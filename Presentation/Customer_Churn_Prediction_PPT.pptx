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Open Sauce" panose="020B0604020202020204" charset="0"/>
      <p:regular r:id="rId15"/>
    </p:embeddedFont>
    <p:embeddedFont>
      <p:font typeface="Open Sauce Bold" panose="020B0604020202020204" charset="0"/>
      <p:regular r:id="rId16"/>
    </p:embeddedFont>
    <p:embeddedFont>
      <p:font typeface="Open Sauce Medium" panose="020B0604020202020204" charset="0"/>
      <p:regular r:id="rId17"/>
    </p:embeddedFont>
    <p:embeddedFont>
      <p:font typeface="Open Sauce Semi-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91"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5.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347356" y="-4083805"/>
            <a:ext cx="22188662" cy="18920878"/>
          </a:xfrm>
          <a:custGeom>
            <a:avLst/>
            <a:gdLst/>
            <a:ahLst/>
            <a:cxnLst/>
            <a:rect l="l" t="t" r="r" b="b"/>
            <a:pathLst>
              <a:path w="22188662" h="18920878">
                <a:moveTo>
                  <a:pt x="0" y="0"/>
                </a:moveTo>
                <a:lnTo>
                  <a:pt x="22188663" y="0"/>
                </a:lnTo>
                <a:lnTo>
                  <a:pt x="22188663" y="18920878"/>
                </a:lnTo>
                <a:lnTo>
                  <a:pt x="0" y="18920878"/>
                </a:lnTo>
                <a:lnTo>
                  <a:pt x="0" y="0"/>
                </a:lnTo>
                <a:close/>
              </a:path>
            </a:pathLst>
          </a:custGeom>
          <a:blipFill>
            <a:blip r:embed="rId3"/>
            <a:stretch>
              <a:fillRect/>
            </a:stretch>
          </a:blipFill>
        </p:spPr>
      </p:sp>
      <p:sp>
        <p:nvSpPr>
          <p:cNvPr id="4" name="TextBox 4"/>
          <p:cNvSpPr txBox="1"/>
          <p:nvPr/>
        </p:nvSpPr>
        <p:spPr>
          <a:xfrm>
            <a:off x="1972919" y="5471884"/>
            <a:ext cx="13616443" cy="1058807"/>
          </a:xfrm>
          <a:prstGeom prst="rect">
            <a:avLst/>
          </a:prstGeom>
        </p:spPr>
        <p:txBody>
          <a:bodyPr lIns="0" tIns="0" rIns="0" bIns="0" rtlCol="0" anchor="t">
            <a:spAutoFit/>
          </a:bodyPr>
          <a:lstStyle/>
          <a:p>
            <a:pPr marL="0" lvl="0" indent="0" algn="l">
              <a:lnSpc>
                <a:spcPts val="8209"/>
              </a:lnSpc>
              <a:spcBef>
                <a:spcPct val="0"/>
              </a:spcBef>
            </a:pPr>
            <a:r>
              <a:rPr lang="en-US" sz="7601" spc="-448">
                <a:solidFill>
                  <a:srgbClr val="185079"/>
                </a:solidFill>
                <a:latin typeface="Open Sauce"/>
                <a:ea typeface="Open Sauce"/>
                <a:cs typeface="Open Sauce"/>
                <a:sym typeface="Open Sauce"/>
              </a:rPr>
              <a:t>INTERNSHIP PROJECT</a:t>
            </a:r>
          </a:p>
        </p:txBody>
      </p:sp>
      <p:sp>
        <p:nvSpPr>
          <p:cNvPr id="5" name="TextBox 5"/>
          <p:cNvSpPr txBox="1"/>
          <p:nvPr/>
        </p:nvSpPr>
        <p:spPr>
          <a:xfrm>
            <a:off x="2167581" y="1066800"/>
            <a:ext cx="8401840" cy="501749"/>
          </a:xfrm>
          <a:prstGeom prst="rect">
            <a:avLst/>
          </a:prstGeom>
        </p:spPr>
        <p:txBody>
          <a:bodyPr lIns="0" tIns="0" rIns="0" bIns="0" rtlCol="0" anchor="t">
            <a:spAutoFit/>
          </a:bodyPr>
          <a:lstStyle/>
          <a:p>
            <a:pPr algn="l">
              <a:lnSpc>
                <a:spcPts val="3830"/>
              </a:lnSpc>
            </a:pPr>
            <a:r>
              <a:rPr lang="en-US" sz="3546" b="1" spc="-127">
                <a:solidFill>
                  <a:srgbClr val="185079"/>
                </a:solidFill>
                <a:latin typeface="Open Sauce Bold"/>
                <a:ea typeface="Open Sauce Bold"/>
                <a:cs typeface="Open Sauce Bold"/>
                <a:sym typeface="Open Sauce Bold"/>
              </a:rPr>
              <a:t>Zaalima Software Development Pvt.Ltd</a:t>
            </a:r>
          </a:p>
        </p:txBody>
      </p:sp>
      <p:sp>
        <p:nvSpPr>
          <p:cNvPr id="6" name="Freeform 6"/>
          <p:cNvSpPr/>
          <p:nvPr/>
        </p:nvSpPr>
        <p:spPr>
          <a:xfrm>
            <a:off x="1028700" y="1028700"/>
            <a:ext cx="944219" cy="568248"/>
          </a:xfrm>
          <a:custGeom>
            <a:avLst/>
            <a:gdLst/>
            <a:ahLst/>
            <a:cxnLst/>
            <a:rect l="l" t="t" r="r" b="b"/>
            <a:pathLst>
              <a:path w="944219" h="568248">
                <a:moveTo>
                  <a:pt x="0" y="0"/>
                </a:moveTo>
                <a:lnTo>
                  <a:pt x="944219" y="0"/>
                </a:lnTo>
                <a:lnTo>
                  <a:pt x="944219" y="568248"/>
                </a:lnTo>
                <a:lnTo>
                  <a:pt x="0" y="56824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411227" y="2219407"/>
            <a:ext cx="17559457" cy="2924093"/>
          </a:xfrm>
          <a:prstGeom prst="rect">
            <a:avLst/>
          </a:prstGeom>
        </p:spPr>
        <p:txBody>
          <a:bodyPr lIns="0" tIns="0" rIns="0" bIns="0" rtlCol="0" anchor="t">
            <a:spAutoFit/>
          </a:bodyPr>
          <a:lstStyle/>
          <a:p>
            <a:pPr algn="ctr">
              <a:lnSpc>
                <a:spcPts val="11521"/>
              </a:lnSpc>
              <a:spcBef>
                <a:spcPct val="0"/>
              </a:spcBef>
            </a:pPr>
            <a:r>
              <a:rPr lang="en-US" sz="9601" b="1">
                <a:solidFill>
                  <a:srgbClr val="185079"/>
                </a:solidFill>
                <a:latin typeface="Open Sauce Bold"/>
                <a:ea typeface="Open Sauce Bold"/>
                <a:cs typeface="Open Sauce Bold"/>
                <a:sym typeface="Open Sauce Bold"/>
              </a:rPr>
              <a:t>CUSTOMER CHURN PREDICTION</a:t>
            </a:r>
          </a:p>
        </p:txBody>
      </p:sp>
      <p:sp>
        <p:nvSpPr>
          <p:cNvPr id="8" name="TextBox 8"/>
          <p:cNvSpPr txBox="1"/>
          <p:nvPr/>
        </p:nvSpPr>
        <p:spPr>
          <a:xfrm>
            <a:off x="720483" y="7178390"/>
            <a:ext cx="6074469" cy="2438503"/>
          </a:xfrm>
          <a:prstGeom prst="rect">
            <a:avLst/>
          </a:prstGeom>
        </p:spPr>
        <p:txBody>
          <a:bodyPr lIns="0" tIns="0" rIns="0" bIns="0" rtlCol="0" anchor="t">
            <a:spAutoFit/>
          </a:bodyPr>
          <a:lstStyle/>
          <a:p>
            <a:pPr algn="l">
              <a:lnSpc>
                <a:spcPts val="3839"/>
              </a:lnSpc>
            </a:pPr>
            <a:r>
              <a:rPr lang="en-US" sz="3199">
                <a:solidFill>
                  <a:srgbClr val="185079"/>
                </a:solidFill>
                <a:latin typeface="Open Sauce"/>
                <a:ea typeface="Open Sauce"/>
                <a:cs typeface="Open Sauce"/>
                <a:sym typeface="Open Sauce"/>
              </a:rPr>
              <a:t>Team Members:</a:t>
            </a:r>
          </a:p>
          <a:p>
            <a:pPr algn="ctr">
              <a:lnSpc>
                <a:spcPts val="3839"/>
              </a:lnSpc>
            </a:pPr>
            <a:r>
              <a:rPr lang="en-US" sz="3199">
                <a:solidFill>
                  <a:srgbClr val="185079"/>
                </a:solidFill>
                <a:latin typeface="Open Sauce"/>
                <a:ea typeface="Open Sauce"/>
                <a:cs typeface="Open Sauce"/>
                <a:sym typeface="Open Sauce"/>
              </a:rPr>
              <a:t> Charan Teja Perumalla</a:t>
            </a:r>
          </a:p>
          <a:p>
            <a:pPr algn="l">
              <a:lnSpc>
                <a:spcPts val="3839"/>
              </a:lnSpc>
            </a:pPr>
            <a:r>
              <a:rPr lang="en-US" sz="3199">
                <a:solidFill>
                  <a:srgbClr val="185079"/>
                </a:solidFill>
                <a:latin typeface="Open Sauce"/>
                <a:ea typeface="Open Sauce"/>
                <a:cs typeface="Open Sauce"/>
                <a:sym typeface="Open Sauce"/>
              </a:rPr>
              <a:t>         Prabhas Bollam</a:t>
            </a:r>
          </a:p>
          <a:p>
            <a:pPr algn="l">
              <a:lnSpc>
                <a:spcPts val="3839"/>
              </a:lnSpc>
            </a:pPr>
            <a:r>
              <a:rPr lang="en-US" sz="3199">
                <a:solidFill>
                  <a:srgbClr val="185079"/>
                </a:solidFill>
                <a:latin typeface="Open Sauce"/>
                <a:ea typeface="Open Sauce"/>
                <a:cs typeface="Open Sauce"/>
                <a:sym typeface="Open Sauce"/>
              </a:rPr>
              <a:t>         Prasanna Jampa</a:t>
            </a:r>
          </a:p>
          <a:p>
            <a:pPr algn="l">
              <a:lnSpc>
                <a:spcPts val="3839"/>
              </a:lnSpc>
              <a:spcBef>
                <a:spcPct val="0"/>
              </a:spcBef>
            </a:pPr>
            <a:r>
              <a:rPr lang="en-US" sz="3199">
                <a:solidFill>
                  <a:srgbClr val="185079"/>
                </a:solidFill>
                <a:latin typeface="Open Sauce"/>
                <a:ea typeface="Open Sauce"/>
                <a:cs typeface="Open Sauce"/>
                <a:sym typeface="Open Sauce"/>
              </a:rPr>
              <a:t>         Sirisha Yerra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TextBox 3"/>
          <p:cNvSpPr txBox="1"/>
          <p:nvPr/>
        </p:nvSpPr>
        <p:spPr>
          <a:xfrm>
            <a:off x="1028700" y="1548757"/>
            <a:ext cx="6737800" cy="2193497"/>
          </a:xfrm>
          <a:prstGeom prst="rect">
            <a:avLst/>
          </a:prstGeom>
        </p:spPr>
        <p:txBody>
          <a:bodyPr lIns="0" tIns="0" rIns="0" bIns="0" rtlCol="0" anchor="t">
            <a:spAutoFit/>
          </a:bodyPr>
          <a:lstStyle/>
          <a:p>
            <a:pPr marL="0" lvl="0" indent="0" algn="l">
              <a:lnSpc>
                <a:spcPts val="8550"/>
              </a:lnSpc>
              <a:spcBef>
                <a:spcPct val="0"/>
              </a:spcBef>
            </a:pPr>
            <a:r>
              <a:rPr lang="en-US" sz="7917" b="1" spc="-467">
                <a:solidFill>
                  <a:srgbClr val="185079"/>
                </a:solidFill>
                <a:latin typeface="Open Sauce Semi-Bold"/>
                <a:ea typeface="Open Sauce Semi-Bold"/>
                <a:cs typeface="Open Sauce Semi-Bold"/>
                <a:sym typeface="Open Sauce Semi-Bold"/>
              </a:rPr>
              <a:t>P</a:t>
            </a:r>
            <a:r>
              <a:rPr lang="en-US" sz="7917" b="1" u="none" strike="noStrike" spc="-467">
                <a:solidFill>
                  <a:srgbClr val="185079"/>
                </a:solidFill>
                <a:latin typeface="Open Sauce Semi-Bold"/>
                <a:ea typeface="Open Sauce Semi-Bold"/>
                <a:cs typeface="Open Sauce Semi-Bold"/>
                <a:sym typeface="Open Sauce Semi-Bold"/>
              </a:rPr>
              <a:t>ROBLEM STATEMENT</a:t>
            </a:r>
          </a:p>
        </p:txBody>
      </p:sp>
      <p:sp>
        <p:nvSpPr>
          <p:cNvPr id="4" name="TextBox 4"/>
          <p:cNvSpPr txBox="1"/>
          <p:nvPr/>
        </p:nvSpPr>
        <p:spPr>
          <a:xfrm>
            <a:off x="1028700" y="4225072"/>
            <a:ext cx="8107987" cy="5033228"/>
          </a:xfrm>
          <a:prstGeom prst="rect">
            <a:avLst/>
          </a:prstGeom>
        </p:spPr>
        <p:txBody>
          <a:bodyPr lIns="0" tIns="0" rIns="0" bIns="0" rtlCol="0" anchor="t">
            <a:spAutoFit/>
          </a:bodyPr>
          <a:lstStyle/>
          <a:p>
            <a:pPr marL="0" lvl="0" indent="0" algn="l">
              <a:lnSpc>
                <a:spcPts val="2890"/>
              </a:lnSpc>
              <a:spcBef>
                <a:spcPct val="0"/>
              </a:spcBef>
            </a:pPr>
            <a:r>
              <a:rPr lang="en-US" sz="2064" b="1">
                <a:solidFill>
                  <a:srgbClr val="185079"/>
                </a:solidFill>
                <a:latin typeface="Open Sauce Bold"/>
                <a:ea typeface="Open Sauce Bold"/>
                <a:cs typeface="Open Sauce Bold"/>
                <a:sym typeface="Open Sauce Bold"/>
              </a:rPr>
              <a:t>Customer churn is one of the major challenges faced by telecom companies, as losing existing customers directly affects business revenue and growth. Many customers discontinue services due to factors such as high monthly charges, poor service experience, contract type, and lack of customer support. Identifying customers who are likely to churn is important for improving customer retention strategies and reducing financial loss. This project aims to develop a Machine Learning based Customer Churn Prediction system that analyzes customer data and predicts whether a customer is likely to leave the service. The project also provides business insights, API integration, and dashboard visualization to support better decision-making and customer management.</a:t>
            </a:r>
          </a:p>
        </p:txBody>
      </p:sp>
      <p:grpSp>
        <p:nvGrpSpPr>
          <p:cNvPr id="5" name="Group 5"/>
          <p:cNvGrpSpPr/>
          <p:nvPr/>
        </p:nvGrpSpPr>
        <p:grpSpPr>
          <a:xfrm>
            <a:off x="10005041" y="2048055"/>
            <a:ext cx="1385652" cy="138565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95BFD1"/>
            </a:solidFill>
            <a:ln cap="rnd">
              <a:noFill/>
              <a:prstDash val="solid"/>
              <a:round/>
            </a:ln>
          </p:spPr>
        </p:sp>
        <p:sp>
          <p:nvSpPr>
            <p:cNvPr id="7" name="TextBox 7"/>
            <p:cNvSpPr txBox="1"/>
            <p:nvPr/>
          </p:nvSpPr>
          <p:spPr>
            <a:xfrm>
              <a:off x="76200" y="76200"/>
              <a:ext cx="660400" cy="660400"/>
            </a:xfrm>
            <a:prstGeom prst="rect">
              <a:avLst/>
            </a:prstGeom>
          </p:spPr>
          <p:txBody>
            <a:bodyPr lIns="50800" tIns="50800" rIns="50800" bIns="50800" rtlCol="0" anchor="ctr"/>
            <a:lstStyle/>
            <a:p>
              <a:pPr marL="0" lvl="0" indent="0" algn="ctr">
                <a:lnSpc>
                  <a:spcPts val="2879"/>
                </a:lnSpc>
                <a:spcBef>
                  <a:spcPct val="0"/>
                </a:spcBef>
              </a:pPr>
              <a:endParaRPr/>
            </a:p>
          </p:txBody>
        </p:sp>
      </p:grpSp>
      <p:grpSp>
        <p:nvGrpSpPr>
          <p:cNvPr id="8" name="Group 8"/>
          <p:cNvGrpSpPr/>
          <p:nvPr/>
        </p:nvGrpSpPr>
        <p:grpSpPr>
          <a:xfrm>
            <a:off x="11488675" y="678568"/>
            <a:ext cx="5293977" cy="2745904"/>
            <a:chOff x="0" y="0"/>
            <a:chExt cx="1803504" cy="935450"/>
          </a:xfrm>
        </p:grpSpPr>
        <p:sp>
          <p:nvSpPr>
            <p:cNvPr id="9" name="Freeform 9"/>
            <p:cNvSpPr/>
            <p:nvPr/>
          </p:nvSpPr>
          <p:spPr>
            <a:xfrm>
              <a:off x="0" y="0"/>
              <a:ext cx="1803504" cy="935450"/>
            </a:xfrm>
            <a:custGeom>
              <a:avLst/>
              <a:gdLst/>
              <a:ahLst/>
              <a:cxnLst/>
              <a:rect l="l" t="t" r="r" b="b"/>
              <a:pathLst>
                <a:path w="1803504" h="935450">
                  <a:moveTo>
                    <a:pt x="30710" y="0"/>
                  </a:moveTo>
                  <a:lnTo>
                    <a:pt x="1772794" y="0"/>
                  </a:lnTo>
                  <a:cubicBezTo>
                    <a:pt x="1789755" y="0"/>
                    <a:pt x="1803504" y="13750"/>
                    <a:pt x="1803504" y="30710"/>
                  </a:cubicBezTo>
                  <a:lnTo>
                    <a:pt x="1803504" y="904739"/>
                  </a:lnTo>
                  <a:cubicBezTo>
                    <a:pt x="1803504" y="921700"/>
                    <a:pt x="1789755" y="935450"/>
                    <a:pt x="1772794" y="935450"/>
                  </a:cubicBezTo>
                  <a:lnTo>
                    <a:pt x="30710" y="935450"/>
                  </a:lnTo>
                  <a:cubicBezTo>
                    <a:pt x="13750" y="935450"/>
                    <a:pt x="0" y="921700"/>
                    <a:pt x="0" y="904739"/>
                  </a:cubicBezTo>
                  <a:lnTo>
                    <a:pt x="0" y="30710"/>
                  </a:lnTo>
                  <a:cubicBezTo>
                    <a:pt x="0" y="13750"/>
                    <a:pt x="13750" y="0"/>
                    <a:pt x="30710" y="0"/>
                  </a:cubicBezTo>
                  <a:close/>
                </a:path>
              </a:pathLst>
            </a:custGeom>
            <a:solidFill>
              <a:srgbClr val="95BFD1"/>
            </a:solidFill>
            <a:ln cap="rnd">
              <a:noFill/>
              <a:prstDash val="solid"/>
              <a:round/>
            </a:ln>
          </p:spPr>
        </p:sp>
        <p:sp>
          <p:nvSpPr>
            <p:cNvPr id="10" name="TextBox 10"/>
            <p:cNvSpPr txBox="1"/>
            <p:nvPr/>
          </p:nvSpPr>
          <p:spPr>
            <a:xfrm>
              <a:off x="0" y="0"/>
              <a:ext cx="1803504" cy="935450"/>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11" name="TextBox 11"/>
          <p:cNvSpPr txBox="1"/>
          <p:nvPr/>
        </p:nvSpPr>
        <p:spPr>
          <a:xfrm>
            <a:off x="11957668" y="960825"/>
            <a:ext cx="4355991" cy="2095665"/>
          </a:xfrm>
          <a:prstGeom prst="rect">
            <a:avLst/>
          </a:prstGeom>
        </p:spPr>
        <p:txBody>
          <a:bodyPr lIns="0" tIns="0" rIns="0" bIns="0" rtlCol="0" anchor="t">
            <a:spAutoFit/>
          </a:bodyPr>
          <a:lstStyle/>
          <a:p>
            <a:pPr marL="0" lvl="0" indent="0" algn="l">
              <a:lnSpc>
                <a:spcPts val="2807"/>
              </a:lnSpc>
            </a:pPr>
            <a:r>
              <a:rPr lang="en-US" sz="1651" b="1" spc="-3">
                <a:solidFill>
                  <a:srgbClr val="FBF6F1"/>
                </a:solidFill>
                <a:latin typeface="Open Sauce Bold"/>
                <a:ea typeface="Open Sauce Bold"/>
                <a:cs typeface="Open Sauce Bold"/>
                <a:sym typeface="Open Sauce Bold"/>
              </a:rPr>
              <a:t>Customer churn happens when subscribers leave a telecom service because of poor network quality, high prices or better offers elsewhere. It reduces revenue and affects long‑term growth.</a:t>
            </a:r>
          </a:p>
        </p:txBody>
      </p:sp>
      <p:sp>
        <p:nvSpPr>
          <p:cNvPr id="12" name="TextBox 12"/>
          <p:cNvSpPr txBox="1"/>
          <p:nvPr/>
        </p:nvSpPr>
        <p:spPr>
          <a:xfrm>
            <a:off x="10005041" y="2286374"/>
            <a:ext cx="1308018" cy="886555"/>
          </a:xfrm>
          <a:prstGeom prst="rect">
            <a:avLst/>
          </a:prstGeom>
        </p:spPr>
        <p:txBody>
          <a:bodyPr lIns="0" tIns="0" rIns="0" bIns="0" rtlCol="0" anchor="t">
            <a:spAutoFit/>
          </a:bodyPr>
          <a:lstStyle/>
          <a:p>
            <a:pPr algn="ctr">
              <a:lnSpc>
                <a:spcPts val="6980"/>
              </a:lnSpc>
            </a:pPr>
            <a:r>
              <a:rPr lang="en-US" sz="5817" b="1">
                <a:solidFill>
                  <a:srgbClr val="FBF6F1"/>
                </a:solidFill>
                <a:latin typeface="Open Sauce Medium"/>
                <a:ea typeface="Open Sauce Medium"/>
                <a:cs typeface="Open Sauce Medium"/>
                <a:sym typeface="Open Sauce Medium"/>
              </a:rPr>
              <a:t>01</a:t>
            </a:r>
          </a:p>
        </p:txBody>
      </p:sp>
      <p:grpSp>
        <p:nvGrpSpPr>
          <p:cNvPr id="13" name="Group 13"/>
          <p:cNvGrpSpPr/>
          <p:nvPr/>
        </p:nvGrpSpPr>
        <p:grpSpPr>
          <a:xfrm>
            <a:off x="10005041" y="4801704"/>
            <a:ext cx="1385652" cy="138565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4E97BB">
                <a:alpha val="84706"/>
              </a:srgbClr>
            </a:solidFill>
            <a:ln cap="rnd">
              <a:noFill/>
              <a:prstDash val="solid"/>
              <a:round/>
            </a:ln>
          </p:spPr>
        </p:sp>
        <p:sp>
          <p:nvSpPr>
            <p:cNvPr id="15" name="TextBox 15"/>
            <p:cNvSpPr txBox="1"/>
            <p:nvPr/>
          </p:nvSpPr>
          <p:spPr>
            <a:xfrm>
              <a:off x="76200" y="76200"/>
              <a:ext cx="660400" cy="660400"/>
            </a:xfrm>
            <a:prstGeom prst="rect">
              <a:avLst/>
            </a:prstGeom>
          </p:spPr>
          <p:txBody>
            <a:bodyPr lIns="50800" tIns="50800" rIns="50800" bIns="50800" rtlCol="0" anchor="ctr"/>
            <a:lstStyle/>
            <a:p>
              <a:pPr marL="0" lvl="0" indent="0" algn="ctr">
                <a:lnSpc>
                  <a:spcPts val="2879"/>
                </a:lnSpc>
                <a:spcBef>
                  <a:spcPct val="0"/>
                </a:spcBef>
              </a:pPr>
              <a:endParaRPr/>
            </a:p>
          </p:txBody>
        </p:sp>
      </p:grpSp>
      <p:grpSp>
        <p:nvGrpSpPr>
          <p:cNvPr id="16" name="Group 16"/>
          <p:cNvGrpSpPr/>
          <p:nvPr/>
        </p:nvGrpSpPr>
        <p:grpSpPr>
          <a:xfrm>
            <a:off x="11660562" y="3742253"/>
            <a:ext cx="5293977" cy="2617999"/>
            <a:chOff x="0" y="0"/>
            <a:chExt cx="1803504" cy="891876"/>
          </a:xfrm>
        </p:grpSpPr>
        <p:sp>
          <p:nvSpPr>
            <p:cNvPr id="17" name="Freeform 17"/>
            <p:cNvSpPr/>
            <p:nvPr/>
          </p:nvSpPr>
          <p:spPr>
            <a:xfrm>
              <a:off x="0" y="0"/>
              <a:ext cx="1803504" cy="891876"/>
            </a:xfrm>
            <a:custGeom>
              <a:avLst/>
              <a:gdLst/>
              <a:ahLst/>
              <a:cxnLst/>
              <a:rect l="l" t="t" r="r" b="b"/>
              <a:pathLst>
                <a:path w="1803504" h="891876">
                  <a:moveTo>
                    <a:pt x="30710" y="0"/>
                  </a:moveTo>
                  <a:lnTo>
                    <a:pt x="1772794" y="0"/>
                  </a:lnTo>
                  <a:cubicBezTo>
                    <a:pt x="1789755" y="0"/>
                    <a:pt x="1803504" y="13750"/>
                    <a:pt x="1803504" y="30710"/>
                  </a:cubicBezTo>
                  <a:lnTo>
                    <a:pt x="1803504" y="861166"/>
                  </a:lnTo>
                  <a:cubicBezTo>
                    <a:pt x="1803504" y="878127"/>
                    <a:pt x="1789755" y="891876"/>
                    <a:pt x="1772794" y="891876"/>
                  </a:cubicBezTo>
                  <a:lnTo>
                    <a:pt x="30710" y="891876"/>
                  </a:lnTo>
                  <a:cubicBezTo>
                    <a:pt x="13750" y="891876"/>
                    <a:pt x="0" y="878127"/>
                    <a:pt x="0" y="861166"/>
                  </a:cubicBezTo>
                  <a:lnTo>
                    <a:pt x="0" y="30710"/>
                  </a:lnTo>
                  <a:cubicBezTo>
                    <a:pt x="0" y="13750"/>
                    <a:pt x="13750" y="0"/>
                    <a:pt x="30710" y="0"/>
                  </a:cubicBezTo>
                  <a:close/>
                </a:path>
              </a:pathLst>
            </a:custGeom>
            <a:solidFill>
              <a:srgbClr val="4E97BB">
                <a:alpha val="84706"/>
              </a:srgbClr>
            </a:solidFill>
            <a:ln cap="rnd">
              <a:noFill/>
              <a:prstDash val="solid"/>
              <a:round/>
            </a:ln>
          </p:spPr>
        </p:sp>
        <p:sp>
          <p:nvSpPr>
            <p:cNvPr id="18" name="TextBox 18"/>
            <p:cNvSpPr txBox="1"/>
            <p:nvPr/>
          </p:nvSpPr>
          <p:spPr>
            <a:xfrm>
              <a:off x="0" y="0"/>
              <a:ext cx="1803504" cy="891876"/>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19" name="TextBox 19"/>
          <p:cNvSpPr txBox="1"/>
          <p:nvPr/>
        </p:nvSpPr>
        <p:spPr>
          <a:xfrm>
            <a:off x="11957668" y="3960558"/>
            <a:ext cx="4355991" cy="2095665"/>
          </a:xfrm>
          <a:prstGeom prst="rect">
            <a:avLst/>
          </a:prstGeom>
        </p:spPr>
        <p:txBody>
          <a:bodyPr lIns="0" tIns="0" rIns="0" bIns="0" rtlCol="0" anchor="t">
            <a:spAutoFit/>
          </a:bodyPr>
          <a:lstStyle/>
          <a:p>
            <a:pPr marL="0" lvl="0" indent="0" algn="l">
              <a:lnSpc>
                <a:spcPts val="2807"/>
              </a:lnSpc>
            </a:pPr>
            <a:r>
              <a:rPr lang="en-US" sz="1651" b="1" spc="-3">
                <a:solidFill>
                  <a:srgbClr val="FBF6F1"/>
                </a:solidFill>
                <a:latin typeface="Open Sauce Bold"/>
                <a:ea typeface="Open Sauce Bold"/>
                <a:cs typeface="Open Sauce Bold"/>
                <a:sym typeface="Open Sauce Bold"/>
              </a:rPr>
              <a:t>Customer retention keeps loyal subscribers engaged, reduces marketing costs, and strengthens steady revenue. It helps build trust and long-term relationships that support business growth.</a:t>
            </a:r>
          </a:p>
        </p:txBody>
      </p:sp>
      <p:sp>
        <p:nvSpPr>
          <p:cNvPr id="20" name="TextBox 20"/>
          <p:cNvSpPr txBox="1"/>
          <p:nvPr/>
        </p:nvSpPr>
        <p:spPr>
          <a:xfrm>
            <a:off x="10082675" y="5051253"/>
            <a:ext cx="1308018" cy="886555"/>
          </a:xfrm>
          <a:prstGeom prst="rect">
            <a:avLst/>
          </a:prstGeom>
        </p:spPr>
        <p:txBody>
          <a:bodyPr lIns="0" tIns="0" rIns="0" bIns="0" rtlCol="0" anchor="t">
            <a:spAutoFit/>
          </a:bodyPr>
          <a:lstStyle/>
          <a:p>
            <a:pPr algn="ctr">
              <a:lnSpc>
                <a:spcPts val="6980"/>
              </a:lnSpc>
            </a:pPr>
            <a:r>
              <a:rPr lang="en-US" sz="5817" b="1">
                <a:solidFill>
                  <a:srgbClr val="FBF6F1"/>
                </a:solidFill>
                <a:latin typeface="Open Sauce Medium"/>
                <a:ea typeface="Open Sauce Medium"/>
                <a:cs typeface="Open Sauce Medium"/>
                <a:sym typeface="Open Sauce Medium"/>
              </a:rPr>
              <a:t>02</a:t>
            </a:r>
          </a:p>
        </p:txBody>
      </p:sp>
      <p:grpSp>
        <p:nvGrpSpPr>
          <p:cNvPr id="21" name="Group 21"/>
          <p:cNvGrpSpPr/>
          <p:nvPr/>
        </p:nvGrpSpPr>
        <p:grpSpPr>
          <a:xfrm>
            <a:off x="10103022" y="7564589"/>
            <a:ext cx="1385652" cy="1357092"/>
            <a:chOff x="0" y="0"/>
            <a:chExt cx="812800" cy="796047"/>
          </a:xfrm>
        </p:grpSpPr>
        <p:sp>
          <p:nvSpPr>
            <p:cNvPr id="22" name="Freeform 22"/>
            <p:cNvSpPr/>
            <p:nvPr/>
          </p:nvSpPr>
          <p:spPr>
            <a:xfrm>
              <a:off x="0" y="0"/>
              <a:ext cx="812800" cy="796047"/>
            </a:xfrm>
            <a:custGeom>
              <a:avLst/>
              <a:gdLst/>
              <a:ahLst/>
              <a:cxnLst/>
              <a:rect l="l" t="t" r="r" b="b"/>
              <a:pathLst>
                <a:path w="812800" h="796047">
                  <a:moveTo>
                    <a:pt x="406400" y="0"/>
                  </a:moveTo>
                  <a:cubicBezTo>
                    <a:pt x="181951" y="0"/>
                    <a:pt x="0" y="178201"/>
                    <a:pt x="0" y="398023"/>
                  </a:cubicBezTo>
                  <a:cubicBezTo>
                    <a:pt x="0" y="617846"/>
                    <a:pt x="181951" y="796047"/>
                    <a:pt x="406400" y="796047"/>
                  </a:cubicBezTo>
                  <a:cubicBezTo>
                    <a:pt x="630849" y="796047"/>
                    <a:pt x="812800" y="617846"/>
                    <a:pt x="812800" y="398023"/>
                  </a:cubicBezTo>
                  <a:cubicBezTo>
                    <a:pt x="812800" y="178201"/>
                    <a:pt x="630849" y="0"/>
                    <a:pt x="406400" y="0"/>
                  </a:cubicBezTo>
                  <a:lnTo>
                    <a:pt x="406400" y="0"/>
                  </a:lnTo>
                  <a:close/>
                </a:path>
              </a:pathLst>
            </a:custGeom>
            <a:solidFill>
              <a:srgbClr val="3885AB"/>
            </a:solidFill>
            <a:ln cap="rnd">
              <a:noFill/>
              <a:prstDash val="solid"/>
              <a:round/>
            </a:ln>
          </p:spPr>
        </p:sp>
        <p:sp>
          <p:nvSpPr>
            <p:cNvPr id="23" name="TextBox 23"/>
            <p:cNvSpPr txBox="1"/>
            <p:nvPr/>
          </p:nvSpPr>
          <p:spPr>
            <a:xfrm>
              <a:off x="76200" y="74629"/>
              <a:ext cx="660400" cy="646788"/>
            </a:xfrm>
            <a:prstGeom prst="rect">
              <a:avLst/>
            </a:prstGeom>
          </p:spPr>
          <p:txBody>
            <a:bodyPr lIns="50800" tIns="50800" rIns="50800" bIns="50800" rtlCol="0" anchor="ctr"/>
            <a:lstStyle/>
            <a:p>
              <a:pPr marL="0" lvl="0" indent="0" algn="ctr">
                <a:lnSpc>
                  <a:spcPts val="2879"/>
                </a:lnSpc>
                <a:spcBef>
                  <a:spcPct val="0"/>
                </a:spcBef>
              </a:pPr>
              <a:endParaRPr/>
            </a:p>
          </p:txBody>
        </p:sp>
      </p:grpSp>
      <p:grpSp>
        <p:nvGrpSpPr>
          <p:cNvPr id="24" name="Group 24"/>
          <p:cNvGrpSpPr/>
          <p:nvPr/>
        </p:nvGrpSpPr>
        <p:grpSpPr>
          <a:xfrm>
            <a:off x="11660562" y="6864283"/>
            <a:ext cx="5293977" cy="3165688"/>
            <a:chOff x="0" y="0"/>
            <a:chExt cx="1803504" cy="1078458"/>
          </a:xfrm>
        </p:grpSpPr>
        <p:sp>
          <p:nvSpPr>
            <p:cNvPr id="25" name="Freeform 25"/>
            <p:cNvSpPr/>
            <p:nvPr/>
          </p:nvSpPr>
          <p:spPr>
            <a:xfrm>
              <a:off x="0" y="0"/>
              <a:ext cx="1803504" cy="1078458"/>
            </a:xfrm>
            <a:custGeom>
              <a:avLst/>
              <a:gdLst/>
              <a:ahLst/>
              <a:cxnLst/>
              <a:rect l="l" t="t" r="r" b="b"/>
              <a:pathLst>
                <a:path w="1803504" h="1078458">
                  <a:moveTo>
                    <a:pt x="30710" y="0"/>
                  </a:moveTo>
                  <a:lnTo>
                    <a:pt x="1772794" y="0"/>
                  </a:lnTo>
                  <a:cubicBezTo>
                    <a:pt x="1789755" y="0"/>
                    <a:pt x="1803504" y="13750"/>
                    <a:pt x="1803504" y="30710"/>
                  </a:cubicBezTo>
                  <a:lnTo>
                    <a:pt x="1803504" y="1047748"/>
                  </a:lnTo>
                  <a:cubicBezTo>
                    <a:pt x="1803504" y="1064708"/>
                    <a:pt x="1789755" y="1078458"/>
                    <a:pt x="1772794" y="1078458"/>
                  </a:cubicBezTo>
                  <a:lnTo>
                    <a:pt x="30710" y="1078458"/>
                  </a:lnTo>
                  <a:cubicBezTo>
                    <a:pt x="13750" y="1078458"/>
                    <a:pt x="0" y="1064708"/>
                    <a:pt x="0" y="1047748"/>
                  </a:cubicBezTo>
                  <a:lnTo>
                    <a:pt x="0" y="30710"/>
                  </a:lnTo>
                  <a:cubicBezTo>
                    <a:pt x="0" y="13750"/>
                    <a:pt x="13750" y="0"/>
                    <a:pt x="30710" y="0"/>
                  </a:cubicBezTo>
                  <a:close/>
                </a:path>
              </a:pathLst>
            </a:custGeom>
            <a:solidFill>
              <a:srgbClr val="3885AB"/>
            </a:solidFill>
            <a:ln cap="rnd">
              <a:noFill/>
              <a:prstDash val="solid"/>
              <a:round/>
            </a:ln>
          </p:spPr>
        </p:sp>
        <p:sp>
          <p:nvSpPr>
            <p:cNvPr id="26" name="TextBox 26"/>
            <p:cNvSpPr txBox="1"/>
            <p:nvPr/>
          </p:nvSpPr>
          <p:spPr>
            <a:xfrm>
              <a:off x="0" y="0"/>
              <a:ext cx="1803504" cy="1078458"/>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27" name="TextBox 27"/>
          <p:cNvSpPr txBox="1"/>
          <p:nvPr/>
        </p:nvSpPr>
        <p:spPr>
          <a:xfrm>
            <a:off x="11957668" y="7027003"/>
            <a:ext cx="4355991" cy="3153063"/>
          </a:xfrm>
          <a:prstGeom prst="rect">
            <a:avLst/>
          </a:prstGeom>
        </p:spPr>
        <p:txBody>
          <a:bodyPr lIns="0" tIns="0" rIns="0" bIns="0" rtlCol="0" anchor="t">
            <a:spAutoFit/>
          </a:bodyPr>
          <a:lstStyle/>
          <a:p>
            <a:pPr algn="l">
              <a:lnSpc>
                <a:spcPts val="2807"/>
              </a:lnSpc>
            </a:pPr>
            <a:r>
              <a:rPr lang="en-US" sz="1651" b="1" spc="-3">
                <a:solidFill>
                  <a:srgbClr val="FBF6F1"/>
                </a:solidFill>
                <a:latin typeface="Open Sauce Bold"/>
                <a:ea typeface="Open Sauce Bold"/>
                <a:cs typeface="Open Sauce Bold"/>
                <a:sym typeface="Open Sauce Bold"/>
              </a:rPr>
              <a:t>Customer churn leads to a steady drop in income when subscribers leave the service. As more customers leave, the business must spend more to replace them. This lowers profits and slows down long‑term growth.</a:t>
            </a:r>
          </a:p>
          <a:p>
            <a:pPr algn="l">
              <a:lnSpc>
                <a:spcPts val="2807"/>
              </a:lnSpc>
            </a:pPr>
            <a:r>
              <a:rPr lang="en-US" sz="1651" b="1" spc="-3">
                <a:solidFill>
                  <a:srgbClr val="FBF6F1"/>
                </a:solidFill>
                <a:latin typeface="Open Sauce Bold"/>
                <a:ea typeface="Open Sauce Bold"/>
                <a:cs typeface="Open Sauce Bold"/>
                <a:sym typeface="Open Sauce Bold"/>
              </a:rPr>
              <a:t>If you'd like, I can also match its style to the rest of your slide.</a:t>
            </a:r>
          </a:p>
          <a:p>
            <a:pPr marL="0" lvl="0" indent="0" algn="l">
              <a:lnSpc>
                <a:spcPts val="2807"/>
              </a:lnSpc>
            </a:pPr>
            <a:endParaRPr lang="en-US" sz="1651" b="1" spc="-3">
              <a:solidFill>
                <a:srgbClr val="FBF6F1"/>
              </a:solidFill>
              <a:latin typeface="Open Sauce Bold"/>
              <a:ea typeface="Open Sauce Bold"/>
              <a:cs typeface="Open Sauce Bold"/>
              <a:sym typeface="Open Sauce Bold"/>
            </a:endParaRPr>
          </a:p>
        </p:txBody>
      </p:sp>
      <p:sp>
        <p:nvSpPr>
          <p:cNvPr id="28" name="TextBox 28"/>
          <p:cNvSpPr txBox="1"/>
          <p:nvPr/>
        </p:nvSpPr>
        <p:spPr>
          <a:xfrm>
            <a:off x="10103022" y="7817601"/>
            <a:ext cx="1308018" cy="886555"/>
          </a:xfrm>
          <a:prstGeom prst="rect">
            <a:avLst/>
          </a:prstGeom>
        </p:spPr>
        <p:txBody>
          <a:bodyPr lIns="0" tIns="0" rIns="0" bIns="0" rtlCol="0" anchor="t">
            <a:spAutoFit/>
          </a:bodyPr>
          <a:lstStyle/>
          <a:p>
            <a:pPr algn="ctr">
              <a:lnSpc>
                <a:spcPts val="6980"/>
              </a:lnSpc>
            </a:pPr>
            <a:r>
              <a:rPr lang="en-US" sz="5817" b="1">
                <a:solidFill>
                  <a:srgbClr val="FBF6F1"/>
                </a:solidFill>
                <a:latin typeface="Open Sauce Medium"/>
                <a:ea typeface="Open Sauce Medium"/>
                <a:cs typeface="Open Sauce Medium"/>
                <a:sym typeface="Open Sauce Medium"/>
              </a:rPr>
              <a:t>03</a:t>
            </a:r>
          </a:p>
        </p:txBody>
      </p:sp>
      <p:sp>
        <p:nvSpPr>
          <p:cNvPr id="29" name="Freeform 29"/>
          <p:cNvSpPr/>
          <p:nvPr/>
        </p:nvSpPr>
        <p:spPr>
          <a:xfrm>
            <a:off x="-11651896" y="-6787619"/>
            <a:ext cx="15919790" cy="13575239"/>
          </a:xfrm>
          <a:custGeom>
            <a:avLst/>
            <a:gdLst/>
            <a:ahLst/>
            <a:cxnLst/>
            <a:rect l="l" t="t" r="r" b="b"/>
            <a:pathLst>
              <a:path w="15919790" h="13575239">
                <a:moveTo>
                  <a:pt x="0" y="0"/>
                </a:moveTo>
                <a:lnTo>
                  <a:pt x="15919789" y="0"/>
                </a:lnTo>
                <a:lnTo>
                  <a:pt x="15919789" y="13575238"/>
                </a:lnTo>
                <a:lnTo>
                  <a:pt x="0" y="13575238"/>
                </a:lnTo>
                <a:lnTo>
                  <a:pt x="0" y="0"/>
                </a:lnTo>
                <a:close/>
              </a:path>
            </a:pathLst>
          </a:custGeom>
          <a:blipFill>
            <a:blip r:embed="rId3"/>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id="3" name="Group 3"/>
          <p:cNvGrpSpPr/>
          <p:nvPr/>
        </p:nvGrpSpPr>
        <p:grpSpPr>
          <a:xfrm>
            <a:off x="775837" y="757775"/>
            <a:ext cx="16736327" cy="8771450"/>
            <a:chOff x="0" y="0"/>
            <a:chExt cx="4407921" cy="2310176"/>
          </a:xfrm>
        </p:grpSpPr>
        <p:sp>
          <p:nvSpPr>
            <p:cNvPr id="4" name="Freeform 4"/>
            <p:cNvSpPr/>
            <p:nvPr/>
          </p:nvSpPr>
          <p:spPr>
            <a:xfrm>
              <a:off x="0" y="0"/>
              <a:ext cx="4407921" cy="2310176"/>
            </a:xfrm>
            <a:custGeom>
              <a:avLst/>
              <a:gdLst/>
              <a:ahLst/>
              <a:cxnLst/>
              <a:rect l="l" t="t" r="r" b="b"/>
              <a:pathLst>
                <a:path w="4407921" h="2310176">
                  <a:moveTo>
                    <a:pt x="16190" y="0"/>
                  </a:moveTo>
                  <a:lnTo>
                    <a:pt x="4391731" y="0"/>
                  </a:lnTo>
                  <a:cubicBezTo>
                    <a:pt x="4400672" y="0"/>
                    <a:pt x="4407921" y="7249"/>
                    <a:pt x="4407921" y="16190"/>
                  </a:cubicBezTo>
                  <a:lnTo>
                    <a:pt x="4407921" y="2293986"/>
                  </a:lnTo>
                  <a:cubicBezTo>
                    <a:pt x="4407921" y="2302927"/>
                    <a:pt x="4400672" y="2310176"/>
                    <a:pt x="4391731" y="2310176"/>
                  </a:cubicBezTo>
                  <a:lnTo>
                    <a:pt x="16190" y="2310176"/>
                  </a:lnTo>
                  <a:cubicBezTo>
                    <a:pt x="7249" y="2310176"/>
                    <a:pt x="0" y="2302927"/>
                    <a:pt x="0" y="2293986"/>
                  </a:cubicBezTo>
                  <a:lnTo>
                    <a:pt x="0" y="16190"/>
                  </a:lnTo>
                  <a:cubicBezTo>
                    <a:pt x="0" y="7249"/>
                    <a:pt x="7249" y="0"/>
                    <a:pt x="16190" y="0"/>
                  </a:cubicBezTo>
                  <a:close/>
                </a:path>
              </a:pathLst>
            </a:custGeom>
            <a:solidFill>
              <a:srgbClr val="BBD6E1"/>
            </a:solidFill>
          </p:spPr>
        </p:sp>
        <p:sp>
          <p:nvSpPr>
            <p:cNvPr id="5" name="TextBox 5"/>
            <p:cNvSpPr txBox="1"/>
            <p:nvPr/>
          </p:nvSpPr>
          <p:spPr>
            <a:xfrm>
              <a:off x="0" y="-38100"/>
              <a:ext cx="4407921" cy="2348276"/>
            </a:xfrm>
            <a:prstGeom prst="rect">
              <a:avLst/>
            </a:prstGeom>
          </p:spPr>
          <p:txBody>
            <a:bodyPr lIns="50800" tIns="50800" rIns="50800" bIns="50800" rtlCol="0" anchor="ctr"/>
            <a:lstStyle/>
            <a:p>
              <a:pPr algn="ctr">
                <a:lnSpc>
                  <a:spcPts val="2659"/>
                </a:lnSpc>
                <a:spcBef>
                  <a:spcPct val="0"/>
                </a:spcBef>
              </a:pPr>
              <a:endParaRPr/>
            </a:p>
          </p:txBody>
        </p:sp>
      </p:grpSp>
      <p:sp>
        <p:nvSpPr>
          <p:cNvPr id="6" name="AutoShape 6"/>
          <p:cNvSpPr/>
          <p:nvPr/>
        </p:nvSpPr>
        <p:spPr>
          <a:xfrm flipH="1" flipV="1">
            <a:off x="10886510" y="757775"/>
            <a:ext cx="0" cy="8771450"/>
          </a:xfrm>
          <a:prstGeom prst="line">
            <a:avLst/>
          </a:prstGeom>
          <a:ln w="38100" cap="flat">
            <a:solidFill>
              <a:srgbClr val="185079"/>
            </a:solidFill>
            <a:prstDash val="solid"/>
            <a:headEnd type="none" w="sm" len="sm"/>
            <a:tailEnd type="none" w="sm" len="sm"/>
          </a:ln>
        </p:spPr>
      </p:sp>
      <p:grpSp>
        <p:nvGrpSpPr>
          <p:cNvPr id="7" name="Group 7"/>
          <p:cNvGrpSpPr/>
          <p:nvPr/>
        </p:nvGrpSpPr>
        <p:grpSpPr>
          <a:xfrm>
            <a:off x="10795312" y="1980339"/>
            <a:ext cx="182395" cy="18239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5079"/>
            </a:solidFill>
          </p:spPr>
        </p:sp>
        <p:sp>
          <p:nvSpPr>
            <p:cNvPr id="9" name="TextBox 9"/>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sp>
        <p:nvSpPr>
          <p:cNvPr id="10" name="TextBox 10"/>
          <p:cNvSpPr txBox="1"/>
          <p:nvPr/>
        </p:nvSpPr>
        <p:spPr>
          <a:xfrm>
            <a:off x="11500631" y="1716034"/>
            <a:ext cx="4742733" cy="720531"/>
          </a:xfrm>
          <a:prstGeom prst="rect">
            <a:avLst/>
          </a:prstGeom>
        </p:spPr>
        <p:txBody>
          <a:bodyPr lIns="0" tIns="0" rIns="0" bIns="0" rtlCol="0" anchor="t">
            <a:spAutoFit/>
          </a:bodyPr>
          <a:lstStyle/>
          <a:p>
            <a:pPr algn="l">
              <a:lnSpc>
                <a:spcPts val="5767"/>
              </a:lnSpc>
            </a:pPr>
            <a:r>
              <a:rPr lang="en-US" sz="4846" b="1" spc="130">
                <a:solidFill>
                  <a:srgbClr val="185079"/>
                </a:solidFill>
                <a:latin typeface="Open Sauce Bold"/>
                <a:ea typeface="Open Sauce Bold"/>
                <a:cs typeface="Open Sauce Bold"/>
                <a:sym typeface="Open Sauce Bold"/>
              </a:rPr>
              <a:t>01</a:t>
            </a:r>
          </a:p>
        </p:txBody>
      </p:sp>
      <p:sp>
        <p:nvSpPr>
          <p:cNvPr id="11" name="TextBox 11"/>
          <p:cNvSpPr txBox="1"/>
          <p:nvPr/>
        </p:nvSpPr>
        <p:spPr>
          <a:xfrm>
            <a:off x="12464780" y="1617283"/>
            <a:ext cx="5047383" cy="860882"/>
          </a:xfrm>
          <a:prstGeom prst="rect">
            <a:avLst/>
          </a:prstGeom>
        </p:spPr>
        <p:txBody>
          <a:bodyPr lIns="0" tIns="0" rIns="0" bIns="0" rtlCol="0" anchor="t">
            <a:spAutoFit/>
          </a:bodyPr>
          <a:lstStyle/>
          <a:p>
            <a:pPr marL="0" lvl="0" indent="0" algn="l">
              <a:lnSpc>
                <a:spcPts val="3477"/>
              </a:lnSpc>
            </a:pPr>
            <a:r>
              <a:rPr lang="en-US" sz="2483" b="1" spc="149">
                <a:solidFill>
                  <a:srgbClr val="185079"/>
                </a:solidFill>
                <a:latin typeface="Open Sauce Medium"/>
                <a:ea typeface="Open Sauce Medium"/>
                <a:cs typeface="Open Sauce Medium"/>
                <a:sym typeface="Open Sauce Medium"/>
              </a:rPr>
              <a:t>Predict customer churn using Machine Learning</a:t>
            </a:r>
          </a:p>
        </p:txBody>
      </p:sp>
      <p:sp>
        <p:nvSpPr>
          <p:cNvPr id="12" name="TextBox 12"/>
          <p:cNvSpPr txBox="1"/>
          <p:nvPr/>
        </p:nvSpPr>
        <p:spPr>
          <a:xfrm>
            <a:off x="11500631" y="3748398"/>
            <a:ext cx="4742733" cy="720531"/>
          </a:xfrm>
          <a:prstGeom prst="rect">
            <a:avLst/>
          </a:prstGeom>
        </p:spPr>
        <p:txBody>
          <a:bodyPr lIns="0" tIns="0" rIns="0" bIns="0" rtlCol="0" anchor="t">
            <a:spAutoFit/>
          </a:bodyPr>
          <a:lstStyle/>
          <a:p>
            <a:pPr algn="l">
              <a:lnSpc>
                <a:spcPts val="5767"/>
              </a:lnSpc>
            </a:pPr>
            <a:r>
              <a:rPr lang="en-US" sz="4846" b="1" spc="130">
                <a:solidFill>
                  <a:srgbClr val="185079"/>
                </a:solidFill>
                <a:latin typeface="Open Sauce Bold"/>
                <a:ea typeface="Open Sauce Bold"/>
                <a:cs typeface="Open Sauce Bold"/>
                <a:sym typeface="Open Sauce Bold"/>
              </a:rPr>
              <a:t>02</a:t>
            </a:r>
          </a:p>
        </p:txBody>
      </p:sp>
      <p:sp>
        <p:nvSpPr>
          <p:cNvPr id="13" name="TextBox 13"/>
          <p:cNvSpPr txBox="1"/>
          <p:nvPr/>
        </p:nvSpPr>
        <p:spPr>
          <a:xfrm>
            <a:off x="12464780" y="3754879"/>
            <a:ext cx="5047383" cy="860882"/>
          </a:xfrm>
          <a:prstGeom prst="rect">
            <a:avLst/>
          </a:prstGeom>
        </p:spPr>
        <p:txBody>
          <a:bodyPr lIns="0" tIns="0" rIns="0" bIns="0" rtlCol="0" anchor="t">
            <a:spAutoFit/>
          </a:bodyPr>
          <a:lstStyle/>
          <a:p>
            <a:pPr marL="0" lvl="0" indent="0" algn="l">
              <a:lnSpc>
                <a:spcPts val="3477"/>
              </a:lnSpc>
            </a:pPr>
            <a:r>
              <a:rPr lang="en-US" sz="2483" b="1" spc="149">
                <a:solidFill>
                  <a:srgbClr val="185079"/>
                </a:solidFill>
                <a:latin typeface="Open Sauce Medium"/>
                <a:ea typeface="Open Sauce Medium"/>
                <a:cs typeface="Open Sauce Medium"/>
                <a:sym typeface="Open Sauce Medium"/>
              </a:rPr>
              <a:t>Identify factors affecting churn</a:t>
            </a:r>
          </a:p>
        </p:txBody>
      </p:sp>
      <p:sp>
        <p:nvSpPr>
          <p:cNvPr id="14" name="TextBox 14"/>
          <p:cNvSpPr txBox="1"/>
          <p:nvPr/>
        </p:nvSpPr>
        <p:spPr>
          <a:xfrm>
            <a:off x="11500631" y="5780752"/>
            <a:ext cx="964149" cy="720551"/>
          </a:xfrm>
          <a:prstGeom prst="rect">
            <a:avLst/>
          </a:prstGeom>
        </p:spPr>
        <p:txBody>
          <a:bodyPr lIns="0" tIns="0" rIns="0" bIns="0" rtlCol="0" anchor="t">
            <a:spAutoFit/>
          </a:bodyPr>
          <a:lstStyle/>
          <a:p>
            <a:pPr algn="l">
              <a:lnSpc>
                <a:spcPts val="5767"/>
              </a:lnSpc>
            </a:pPr>
            <a:r>
              <a:rPr lang="en-US" sz="4846" b="1" spc="130">
                <a:solidFill>
                  <a:srgbClr val="185079"/>
                </a:solidFill>
                <a:latin typeface="Open Sauce Bold"/>
                <a:ea typeface="Open Sauce Bold"/>
                <a:cs typeface="Open Sauce Bold"/>
                <a:sym typeface="Open Sauce Bold"/>
              </a:rPr>
              <a:t>03</a:t>
            </a:r>
          </a:p>
        </p:txBody>
      </p:sp>
      <p:sp>
        <p:nvSpPr>
          <p:cNvPr id="15" name="TextBox 15"/>
          <p:cNvSpPr txBox="1"/>
          <p:nvPr/>
        </p:nvSpPr>
        <p:spPr>
          <a:xfrm>
            <a:off x="12464780" y="5682012"/>
            <a:ext cx="5047383" cy="860882"/>
          </a:xfrm>
          <a:prstGeom prst="rect">
            <a:avLst/>
          </a:prstGeom>
        </p:spPr>
        <p:txBody>
          <a:bodyPr lIns="0" tIns="0" rIns="0" bIns="0" rtlCol="0" anchor="t">
            <a:spAutoFit/>
          </a:bodyPr>
          <a:lstStyle/>
          <a:p>
            <a:pPr marL="0" lvl="0" indent="0" algn="l">
              <a:lnSpc>
                <a:spcPts val="3477"/>
              </a:lnSpc>
            </a:pPr>
            <a:r>
              <a:rPr lang="en-US" sz="2483" b="1" spc="149">
                <a:solidFill>
                  <a:srgbClr val="185079"/>
                </a:solidFill>
                <a:latin typeface="Open Sauce Medium"/>
                <a:ea typeface="Open Sauce Medium"/>
                <a:cs typeface="Open Sauce Medium"/>
                <a:sym typeface="Open Sauce Medium"/>
              </a:rPr>
              <a:t>Improve customer retention strategies</a:t>
            </a:r>
          </a:p>
        </p:txBody>
      </p:sp>
      <p:grpSp>
        <p:nvGrpSpPr>
          <p:cNvPr id="16" name="Group 16"/>
          <p:cNvGrpSpPr/>
          <p:nvPr/>
        </p:nvGrpSpPr>
        <p:grpSpPr>
          <a:xfrm>
            <a:off x="10795312" y="4433365"/>
            <a:ext cx="182395" cy="18239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5079"/>
            </a:solidFill>
          </p:spPr>
        </p:sp>
        <p:sp>
          <p:nvSpPr>
            <p:cNvPr id="18" name="TextBox 18"/>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19" name="Group 19"/>
          <p:cNvGrpSpPr/>
          <p:nvPr/>
        </p:nvGrpSpPr>
        <p:grpSpPr>
          <a:xfrm>
            <a:off x="10795312" y="6889942"/>
            <a:ext cx="182395" cy="182395"/>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5079"/>
            </a:solidFill>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sp>
        <p:nvSpPr>
          <p:cNvPr id="22" name="TextBox 22"/>
          <p:cNvSpPr txBox="1"/>
          <p:nvPr/>
        </p:nvSpPr>
        <p:spPr>
          <a:xfrm>
            <a:off x="1911296" y="2015635"/>
            <a:ext cx="6737800" cy="2193497"/>
          </a:xfrm>
          <a:prstGeom prst="rect">
            <a:avLst/>
          </a:prstGeom>
        </p:spPr>
        <p:txBody>
          <a:bodyPr lIns="0" tIns="0" rIns="0" bIns="0" rtlCol="0" anchor="t">
            <a:spAutoFit/>
          </a:bodyPr>
          <a:lstStyle/>
          <a:p>
            <a:pPr marL="0" lvl="0" indent="0" algn="l">
              <a:lnSpc>
                <a:spcPts val="8550"/>
              </a:lnSpc>
              <a:spcBef>
                <a:spcPct val="0"/>
              </a:spcBef>
            </a:pPr>
            <a:r>
              <a:rPr lang="en-US" sz="7917" b="1" spc="-467">
                <a:solidFill>
                  <a:srgbClr val="185079"/>
                </a:solidFill>
                <a:latin typeface="Open Sauce Semi-Bold"/>
                <a:ea typeface="Open Sauce Semi-Bold"/>
                <a:cs typeface="Open Sauce Semi-Bold"/>
                <a:sym typeface="Open Sauce Semi-Bold"/>
              </a:rPr>
              <a:t>OU</a:t>
            </a:r>
            <a:r>
              <a:rPr lang="en-US" sz="7917" b="1" u="none" strike="noStrike" spc="-467">
                <a:solidFill>
                  <a:srgbClr val="185079"/>
                </a:solidFill>
                <a:latin typeface="Open Sauce Semi-Bold"/>
                <a:ea typeface="Open Sauce Semi-Bold"/>
                <a:cs typeface="Open Sauce Semi-Bold"/>
                <a:sym typeface="Open Sauce Semi-Bold"/>
              </a:rPr>
              <a:t>R OBJECTIVES</a:t>
            </a:r>
          </a:p>
        </p:txBody>
      </p:sp>
      <p:sp>
        <p:nvSpPr>
          <p:cNvPr id="23" name="TextBox 23"/>
          <p:cNvSpPr txBox="1"/>
          <p:nvPr/>
        </p:nvSpPr>
        <p:spPr>
          <a:xfrm>
            <a:off x="1911296" y="4886588"/>
            <a:ext cx="7398116" cy="3279994"/>
          </a:xfrm>
          <a:prstGeom prst="rect">
            <a:avLst/>
          </a:prstGeom>
        </p:spPr>
        <p:txBody>
          <a:bodyPr lIns="0" tIns="0" rIns="0" bIns="0" rtlCol="0" anchor="t">
            <a:spAutoFit/>
          </a:bodyPr>
          <a:lstStyle/>
          <a:p>
            <a:pPr algn="l">
              <a:lnSpc>
                <a:spcPts val="2637"/>
              </a:lnSpc>
            </a:pPr>
            <a:r>
              <a:rPr lang="en-US" sz="1884" b="1">
                <a:solidFill>
                  <a:srgbClr val="185079"/>
                </a:solidFill>
                <a:latin typeface="Open Sauce Bold"/>
                <a:ea typeface="Open Sauce Bold"/>
                <a:cs typeface="Open Sauce Bold"/>
                <a:sym typeface="Open Sauce Bold"/>
              </a:rPr>
              <a:t>Understand why customers leave by studying their behaviour and patterns.</a:t>
            </a:r>
          </a:p>
          <a:p>
            <a:pPr algn="l">
              <a:lnSpc>
                <a:spcPts val="2637"/>
              </a:lnSpc>
            </a:pPr>
            <a:r>
              <a:rPr lang="en-US" sz="1884" b="1">
                <a:solidFill>
                  <a:srgbClr val="185079"/>
                </a:solidFill>
                <a:latin typeface="Open Sauce Bold"/>
                <a:ea typeface="Open Sauce Bold"/>
                <a:cs typeface="Open Sauce Bold"/>
                <a:sym typeface="Open Sauce Bold"/>
              </a:rPr>
              <a:t>Spot early signs that show a customer may leave soon.</a:t>
            </a:r>
          </a:p>
          <a:p>
            <a:pPr algn="l">
              <a:lnSpc>
                <a:spcPts val="2637"/>
              </a:lnSpc>
            </a:pPr>
            <a:r>
              <a:rPr lang="en-US" sz="1884" b="1">
                <a:solidFill>
                  <a:srgbClr val="185079"/>
                </a:solidFill>
                <a:latin typeface="Open Sauce Bold"/>
                <a:ea typeface="Open Sauce Bold"/>
                <a:cs typeface="Open Sauce Bold"/>
                <a:sym typeface="Open Sauce Bold"/>
              </a:rPr>
              <a:t>Use simple models to predict churn before it happens.</a:t>
            </a:r>
          </a:p>
          <a:p>
            <a:pPr algn="l">
              <a:lnSpc>
                <a:spcPts val="2637"/>
              </a:lnSpc>
            </a:pPr>
            <a:r>
              <a:rPr lang="en-US" sz="1884" b="1">
                <a:solidFill>
                  <a:srgbClr val="185079"/>
                </a:solidFill>
                <a:latin typeface="Open Sauce Bold"/>
                <a:ea typeface="Open Sauce Bold"/>
                <a:cs typeface="Open Sauce Bold"/>
                <a:sym typeface="Open Sauce Bold"/>
              </a:rPr>
              <a:t>Look at service quality and product usage to find weak points.</a:t>
            </a:r>
          </a:p>
          <a:p>
            <a:pPr algn="l">
              <a:lnSpc>
                <a:spcPts val="2637"/>
              </a:lnSpc>
            </a:pPr>
            <a:r>
              <a:rPr lang="en-US" sz="1884" b="1">
                <a:solidFill>
                  <a:srgbClr val="185079"/>
                </a:solidFill>
                <a:latin typeface="Open Sauce Bold"/>
                <a:ea typeface="Open Sauce Bold"/>
                <a:cs typeface="Open Sauce Bold"/>
                <a:sym typeface="Open Sauce Bold"/>
              </a:rPr>
              <a:t>Group customers based on habits and needs.</a:t>
            </a:r>
          </a:p>
          <a:p>
            <a:pPr algn="l">
              <a:lnSpc>
                <a:spcPts val="2637"/>
              </a:lnSpc>
            </a:pPr>
            <a:r>
              <a:rPr lang="en-US" sz="1884" b="1">
                <a:solidFill>
                  <a:srgbClr val="185079"/>
                </a:solidFill>
                <a:latin typeface="Open Sauce Bold"/>
                <a:ea typeface="Open Sauce Bold"/>
                <a:cs typeface="Open Sauce Bold"/>
                <a:sym typeface="Open Sauce Bold"/>
              </a:rPr>
              <a:t>Find the biggest reasons that push customers away.</a:t>
            </a:r>
          </a:p>
          <a:p>
            <a:pPr algn="l">
              <a:lnSpc>
                <a:spcPts val="2637"/>
              </a:lnSpc>
            </a:pPr>
            <a:r>
              <a:rPr lang="en-US" sz="1884" b="1">
                <a:solidFill>
                  <a:srgbClr val="185079"/>
                </a:solidFill>
                <a:latin typeface="Open Sauce Bold"/>
                <a:ea typeface="Open Sauce Bold"/>
                <a:cs typeface="Open Sauce Bold"/>
                <a:sym typeface="Open Sauce Bold"/>
              </a:rPr>
              <a:t>Test ideas that could help keep customers longer.</a:t>
            </a:r>
          </a:p>
          <a:p>
            <a:pPr algn="l">
              <a:lnSpc>
                <a:spcPts val="2637"/>
              </a:lnSpc>
            </a:pPr>
            <a:r>
              <a:rPr lang="en-US" sz="1884" b="1">
                <a:solidFill>
                  <a:srgbClr val="185079"/>
                </a:solidFill>
                <a:latin typeface="Open Sauce Bold"/>
                <a:ea typeface="Open Sauce Bold"/>
                <a:cs typeface="Open Sauce Bold"/>
                <a:sym typeface="Open Sauce Bold"/>
              </a:rPr>
              <a:t>Give teams clear insights to support better decisions.</a:t>
            </a:r>
          </a:p>
          <a:p>
            <a:pPr marL="0" lvl="0" indent="0" algn="l">
              <a:lnSpc>
                <a:spcPts val="2637"/>
              </a:lnSpc>
              <a:spcBef>
                <a:spcPct val="0"/>
              </a:spcBef>
            </a:pPr>
            <a:r>
              <a:rPr lang="en-US" sz="1884" b="1">
                <a:solidFill>
                  <a:srgbClr val="185079"/>
                </a:solidFill>
                <a:latin typeface="Open Sauce Bold"/>
                <a:ea typeface="Open Sauce Bold"/>
                <a:cs typeface="Open Sauce Bold"/>
                <a:sym typeface="Open Sauce Bold"/>
              </a:rPr>
              <a:t>Track improvements over time to measure success.</a:t>
            </a:r>
          </a:p>
        </p:txBody>
      </p:sp>
      <p:sp>
        <p:nvSpPr>
          <p:cNvPr id="24" name="TextBox 24"/>
          <p:cNvSpPr txBox="1"/>
          <p:nvPr/>
        </p:nvSpPr>
        <p:spPr>
          <a:xfrm>
            <a:off x="11500631" y="7666295"/>
            <a:ext cx="964149" cy="720551"/>
          </a:xfrm>
          <a:prstGeom prst="rect">
            <a:avLst/>
          </a:prstGeom>
        </p:spPr>
        <p:txBody>
          <a:bodyPr lIns="0" tIns="0" rIns="0" bIns="0" rtlCol="0" anchor="t">
            <a:spAutoFit/>
          </a:bodyPr>
          <a:lstStyle/>
          <a:p>
            <a:pPr algn="l">
              <a:lnSpc>
                <a:spcPts val="5767"/>
              </a:lnSpc>
            </a:pPr>
            <a:r>
              <a:rPr lang="en-US" sz="4846" b="1" spc="130">
                <a:solidFill>
                  <a:srgbClr val="185079"/>
                </a:solidFill>
                <a:latin typeface="Open Sauce Bold"/>
                <a:ea typeface="Open Sauce Bold"/>
                <a:cs typeface="Open Sauce Bold"/>
                <a:sym typeface="Open Sauce Bold"/>
              </a:rPr>
              <a:t>04</a:t>
            </a:r>
          </a:p>
        </p:txBody>
      </p:sp>
      <p:sp>
        <p:nvSpPr>
          <p:cNvPr id="25" name="TextBox 25"/>
          <p:cNvSpPr txBox="1"/>
          <p:nvPr/>
        </p:nvSpPr>
        <p:spPr>
          <a:xfrm>
            <a:off x="12464780" y="7609145"/>
            <a:ext cx="5047383" cy="860882"/>
          </a:xfrm>
          <a:prstGeom prst="rect">
            <a:avLst/>
          </a:prstGeom>
        </p:spPr>
        <p:txBody>
          <a:bodyPr lIns="0" tIns="0" rIns="0" bIns="0" rtlCol="0" anchor="t">
            <a:spAutoFit/>
          </a:bodyPr>
          <a:lstStyle/>
          <a:p>
            <a:pPr marL="0" lvl="0" indent="0" algn="l">
              <a:lnSpc>
                <a:spcPts val="3477"/>
              </a:lnSpc>
            </a:pPr>
            <a:r>
              <a:rPr lang="en-US" sz="2483" b="1" spc="149">
                <a:solidFill>
                  <a:srgbClr val="185079"/>
                </a:solidFill>
                <a:latin typeface="Open Sauce Medium"/>
                <a:ea typeface="Open Sauce Medium"/>
                <a:cs typeface="Open Sauce Medium"/>
                <a:sym typeface="Open Sauce Medium"/>
              </a:rPr>
              <a:t>Develop APIs and dashboard for predictions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AutoShape 3"/>
          <p:cNvSpPr/>
          <p:nvPr/>
        </p:nvSpPr>
        <p:spPr>
          <a:xfrm>
            <a:off x="-695965" y="2613336"/>
            <a:ext cx="20061513" cy="0"/>
          </a:xfrm>
          <a:prstGeom prst="line">
            <a:avLst/>
          </a:prstGeom>
          <a:ln w="28575" cap="flat">
            <a:solidFill>
              <a:srgbClr val="185079"/>
            </a:solidFill>
            <a:prstDash val="solid"/>
            <a:headEnd type="none" w="sm" len="sm"/>
            <a:tailEnd type="none" w="sm" len="sm"/>
          </a:ln>
        </p:spPr>
      </p:sp>
      <p:grpSp>
        <p:nvGrpSpPr>
          <p:cNvPr id="4" name="Group 4"/>
          <p:cNvGrpSpPr/>
          <p:nvPr/>
        </p:nvGrpSpPr>
        <p:grpSpPr>
          <a:xfrm>
            <a:off x="2001429" y="2433560"/>
            <a:ext cx="359553" cy="35955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id="6" name="TextBox 6"/>
            <p:cNvSpPr txBox="1"/>
            <p:nvPr/>
          </p:nvSpPr>
          <p:spPr>
            <a:xfrm>
              <a:off x="127000" y="174625"/>
              <a:ext cx="558800" cy="511175"/>
            </a:xfrm>
            <a:prstGeom prst="rect">
              <a:avLst/>
            </a:prstGeom>
          </p:spPr>
          <p:txBody>
            <a:bodyPr lIns="50800" tIns="50800" rIns="50800" bIns="50800" rtlCol="0" anchor="ctr"/>
            <a:lstStyle/>
            <a:p>
              <a:pPr algn="ctr">
                <a:lnSpc>
                  <a:spcPts val="2266"/>
                </a:lnSpc>
              </a:pPr>
              <a:endParaRPr/>
            </a:p>
          </p:txBody>
        </p:sp>
      </p:grpSp>
      <p:grpSp>
        <p:nvGrpSpPr>
          <p:cNvPr id="7" name="Group 7"/>
          <p:cNvGrpSpPr/>
          <p:nvPr/>
        </p:nvGrpSpPr>
        <p:grpSpPr>
          <a:xfrm>
            <a:off x="5818080" y="2433560"/>
            <a:ext cx="359553" cy="35955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id="9" name="TextBox 9"/>
            <p:cNvSpPr txBox="1"/>
            <p:nvPr/>
          </p:nvSpPr>
          <p:spPr>
            <a:xfrm>
              <a:off x="127000" y="174625"/>
              <a:ext cx="558800" cy="511175"/>
            </a:xfrm>
            <a:prstGeom prst="rect">
              <a:avLst/>
            </a:prstGeom>
          </p:spPr>
          <p:txBody>
            <a:bodyPr lIns="50800" tIns="50800" rIns="50800" bIns="50800" rtlCol="0" anchor="ctr"/>
            <a:lstStyle/>
            <a:p>
              <a:pPr algn="ctr">
                <a:lnSpc>
                  <a:spcPts val="2266"/>
                </a:lnSpc>
              </a:pPr>
              <a:endParaRPr/>
            </a:p>
          </p:txBody>
        </p:sp>
      </p:grpSp>
      <p:grpSp>
        <p:nvGrpSpPr>
          <p:cNvPr id="10" name="Group 10"/>
          <p:cNvGrpSpPr/>
          <p:nvPr/>
        </p:nvGrpSpPr>
        <p:grpSpPr>
          <a:xfrm>
            <a:off x="9635208" y="2433560"/>
            <a:ext cx="359553" cy="35955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id="12" name="TextBox 12"/>
            <p:cNvSpPr txBox="1"/>
            <p:nvPr/>
          </p:nvSpPr>
          <p:spPr>
            <a:xfrm>
              <a:off x="127000" y="174625"/>
              <a:ext cx="558800" cy="511175"/>
            </a:xfrm>
            <a:prstGeom prst="rect">
              <a:avLst/>
            </a:prstGeom>
          </p:spPr>
          <p:txBody>
            <a:bodyPr lIns="50800" tIns="50800" rIns="50800" bIns="50800" rtlCol="0" anchor="ctr"/>
            <a:lstStyle/>
            <a:p>
              <a:pPr algn="ctr">
                <a:lnSpc>
                  <a:spcPts val="2266"/>
                </a:lnSpc>
              </a:pPr>
              <a:endParaRPr/>
            </a:p>
          </p:txBody>
        </p:sp>
      </p:grpSp>
      <p:grpSp>
        <p:nvGrpSpPr>
          <p:cNvPr id="13" name="Group 13"/>
          <p:cNvGrpSpPr/>
          <p:nvPr/>
        </p:nvGrpSpPr>
        <p:grpSpPr>
          <a:xfrm>
            <a:off x="13452337" y="2433560"/>
            <a:ext cx="359553" cy="35955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id="15" name="TextBox 15"/>
            <p:cNvSpPr txBox="1"/>
            <p:nvPr/>
          </p:nvSpPr>
          <p:spPr>
            <a:xfrm>
              <a:off x="127000" y="174625"/>
              <a:ext cx="558800" cy="511175"/>
            </a:xfrm>
            <a:prstGeom prst="rect">
              <a:avLst/>
            </a:prstGeom>
          </p:spPr>
          <p:txBody>
            <a:bodyPr lIns="50800" tIns="50800" rIns="50800" bIns="50800" rtlCol="0" anchor="ctr"/>
            <a:lstStyle/>
            <a:p>
              <a:pPr algn="ctr">
                <a:lnSpc>
                  <a:spcPts val="2266"/>
                </a:lnSpc>
              </a:pPr>
              <a:endParaRPr/>
            </a:p>
          </p:txBody>
        </p:sp>
      </p:grpSp>
      <p:sp>
        <p:nvSpPr>
          <p:cNvPr id="16" name="Freeform 16"/>
          <p:cNvSpPr/>
          <p:nvPr/>
        </p:nvSpPr>
        <p:spPr>
          <a:xfrm>
            <a:off x="17964150" y="-2833512"/>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17" name="Freeform 17"/>
          <p:cNvSpPr/>
          <p:nvPr/>
        </p:nvSpPr>
        <p:spPr>
          <a:xfrm>
            <a:off x="1497128" y="4164383"/>
            <a:ext cx="1482645" cy="1482645"/>
          </a:xfrm>
          <a:custGeom>
            <a:avLst/>
            <a:gdLst/>
            <a:ahLst/>
            <a:cxnLst/>
            <a:rect l="l" t="t" r="r" b="b"/>
            <a:pathLst>
              <a:path w="1482645" h="1482645">
                <a:moveTo>
                  <a:pt x="0" y="0"/>
                </a:moveTo>
                <a:lnTo>
                  <a:pt x="1482645" y="0"/>
                </a:lnTo>
                <a:lnTo>
                  <a:pt x="1482645" y="1482645"/>
                </a:lnTo>
                <a:lnTo>
                  <a:pt x="0" y="1482645"/>
                </a:lnTo>
                <a:lnTo>
                  <a:pt x="0" y="0"/>
                </a:lnTo>
                <a:close/>
              </a:path>
            </a:pathLst>
          </a:custGeom>
          <a:blipFill>
            <a:blip r:embed="rId4"/>
            <a:stretch>
              <a:fillRect/>
            </a:stretch>
          </a:blipFill>
        </p:spPr>
      </p:sp>
      <p:sp>
        <p:nvSpPr>
          <p:cNvPr id="18" name="Freeform 18"/>
          <p:cNvSpPr/>
          <p:nvPr/>
        </p:nvSpPr>
        <p:spPr>
          <a:xfrm>
            <a:off x="5252265" y="4188604"/>
            <a:ext cx="1491183" cy="1579347"/>
          </a:xfrm>
          <a:custGeom>
            <a:avLst/>
            <a:gdLst/>
            <a:ahLst/>
            <a:cxnLst/>
            <a:rect l="l" t="t" r="r" b="b"/>
            <a:pathLst>
              <a:path w="1491183" h="1579347">
                <a:moveTo>
                  <a:pt x="0" y="0"/>
                </a:moveTo>
                <a:lnTo>
                  <a:pt x="1491183" y="0"/>
                </a:lnTo>
                <a:lnTo>
                  <a:pt x="1491183" y="1579347"/>
                </a:lnTo>
                <a:lnTo>
                  <a:pt x="0" y="1579347"/>
                </a:lnTo>
                <a:lnTo>
                  <a:pt x="0" y="0"/>
                </a:lnTo>
                <a:close/>
              </a:path>
            </a:pathLst>
          </a:custGeom>
          <a:blipFill>
            <a:blip r:embed="rId5"/>
            <a:stretch>
              <a:fillRect l="-1367" r="-1367"/>
            </a:stretch>
          </a:blipFill>
        </p:spPr>
      </p:sp>
      <p:sp>
        <p:nvSpPr>
          <p:cNvPr id="19" name="Freeform 19"/>
          <p:cNvSpPr/>
          <p:nvPr/>
        </p:nvSpPr>
        <p:spPr>
          <a:xfrm>
            <a:off x="9158003" y="4188604"/>
            <a:ext cx="1768768" cy="1768768"/>
          </a:xfrm>
          <a:custGeom>
            <a:avLst/>
            <a:gdLst/>
            <a:ahLst/>
            <a:cxnLst/>
            <a:rect l="l" t="t" r="r" b="b"/>
            <a:pathLst>
              <a:path w="1768768" h="1768768">
                <a:moveTo>
                  <a:pt x="0" y="0"/>
                </a:moveTo>
                <a:lnTo>
                  <a:pt x="1768767" y="0"/>
                </a:lnTo>
                <a:lnTo>
                  <a:pt x="1768767" y="1768768"/>
                </a:lnTo>
                <a:lnTo>
                  <a:pt x="0" y="1768768"/>
                </a:lnTo>
                <a:lnTo>
                  <a:pt x="0" y="0"/>
                </a:lnTo>
                <a:close/>
              </a:path>
            </a:pathLst>
          </a:custGeom>
          <a:blipFill>
            <a:blip r:embed="rId6"/>
            <a:stretch>
              <a:fillRect/>
            </a:stretch>
          </a:blipFill>
        </p:spPr>
      </p:sp>
      <p:sp>
        <p:nvSpPr>
          <p:cNvPr id="20" name="Freeform 20"/>
          <p:cNvSpPr/>
          <p:nvPr/>
        </p:nvSpPr>
        <p:spPr>
          <a:xfrm>
            <a:off x="12355160" y="4135083"/>
            <a:ext cx="3643665" cy="1898968"/>
          </a:xfrm>
          <a:custGeom>
            <a:avLst/>
            <a:gdLst/>
            <a:ahLst/>
            <a:cxnLst/>
            <a:rect l="l" t="t" r="r" b="b"/>
            <a:pathLst>
              <a:path w="3643665" h="1898968">
                <a:moveTo>
                  <a:pt x="0" y="0"/>
                </a:moveTo>
                <a:lnTo>
                  <a:pt x="3643665" y="0"/>
                </a:lnTo>
                <a:lnTo>
                  <a:pt x="3643665" y="1898967"/>
                </a:lnTo>
                <a:lnTo>
                  <a:pt x="0" y="1898967"/>
                </a:lnTo>
                <a:lnTo>
                  <a:pt x="0" y="0"/>
                </a:lnTo>
                <a:close/>
              </a:path>
            </a:pathLst>
          </a:custGeom>
          <a:blipFill>
            <a:blip r:embed="rId7"/>
            <a:stretch>
              <a:fillRect b="-3462"/>
            </a:stretch>
          </a:blipFill>
        </p:spPr>
      </p:sp>
      <p:sp>
        <p:nvSpPr>
          <p:cNvPr id="21" name="AutoShape 21"/>
          <p:cNvSpPr/>
          <p:nvPr/>
        </p:nvSpPr>
        <p:spPr>
          <a:xfrm>
            <a:off x="-395548" y="6635259"/>
            <a:ext cx="20061513" cy="0"/>
          </a:xfrm>
          <a:prstGeom prst="line">
            <a:avLst/>
          </a:prstGeom>
          <a:ln w="28575" cap="flat">
            <a:solidFill>
              <a:srgbClr val="185079"/>
            </a:solidFill>
            <a:prstDash val="solid"/>
            <a:headEnd type="none" w="sm" len="sm"/>
            <a:tailEnd type="none" w="sm" len="sm"/>
          </a:ln>
        </p:spPr>
      </p:sp>
      <p:grpSp>
        <p:nvGrpSpPr>
          <p:cNvPr id="22" name="Group 22"/>
          <p:cNvGrpSpPr/>
          <p:nvPr/>
        </p:nvGrpSpPr>
        <p:grpSpPr>
          <a:xfrm>
            <a:off x="1953845" y="6455483"/>
            <a:ext cx="359553" cy="359553"/>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id="24" name="TextBox 24"/>
            <p:cNvSpPr txBox="1"/>
            <p:nvPr/>
          </p:nvSpPr>
          <p:spPr>
            <a:xfrm>
              <a:off x="127000" y="174625"/>
              <a:ext cx="558800" cy="511175"/>
            </a:xfrm>
            <a:prstGeom prst="rect">
              <a:avLst/>
            </a:prstGeom>
          </p:spPr>
          <p:txBody>
            <a:bodyPr lIns="50800" tIns="50800" rIns="50800" bIns="50800" rtlCol="0" anchor="ctr"/>
            <a:lstStyle/>
            <a:p>
              <a:pPr algn="ctr">
                <a:lnSpc>
                  <a:spcPts val="2266"/>
                </a:lnSpc>
              </a:pPr>
              <a:endParaRPr/>
            </a:p>
          </p:txBody>
        </p:sp>
      </p:grpSp>
      <p:grpSp>
        <p:nvGrpSpPr>
          <p:cNvPr id="25" name="Group 25"/>
          <p:cNvGrpSpPr/>
          <p:nvPr/>
        </p:nvGrpSpPr>
        <p:grpSpPr>
          <a:xfrm>
            <a:off x="5818080" y="6455483"/>
            <a:ext cx="359553" cy="359553"/>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id="27" name="TextBox 27"/>
            <p:cNvSpPr txBox="1"/>
            <p:nvPr/>
          </p:nvSpPr>
          <p:spPr>
            <a:xfrm>
              <a:off x="127000" y="174625"/>
              <a:ext cx="558800" cy="511175"/>
            </a:xfrm>
            <a:prstGeom prst="rect">
              <a:avLst/>
            </a:prstGeom>
          </p:spPr>
          <p:txBody>
            <a:bodyPr lIns="50800" tIns="50800" rIns="50800" bIns="50800" rtlCol="0" anchor="ctr"/>
            <a:lstStyle/>
            <a:p>
              <a:pPr algn="ctr">
                <a:lnSpc>
                  <a:spcPts val="2266"/>
                </a:lnSpc>
              </a:pPr>
              <a:endParaRPr/>
            </a:p>
          </p:txBody>
        </p:sp>
      </p:grpSp>
      <p:grpSp>
        <p:nvGrpSpPr>
          <p:cNvPr id="28" name="Group 28"/>
          <p:cNvGrpSpPr/>
          <p:nvPr/>
        </p:nvGrpSpPr>
        <p:grpSpPr>
          <a:xfrm>
            <a:off x="9682833" y="6400229"/>
            <a:ext cx="359553" cy="359553"/>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id="30" name="TextBox 30"/>
            <p:cNvSpPr txBox="1"/>
            <p:nvPr/>
          </p:nvSpPr>
          <p:spPr>
            <a:xfrm>
              <a:off x="127000" y="174625"/>
              <a:ext cx="558800" cy="511175"/>
            </a:xfrm>
            <a:prstGeom prst="rect">
              <a:avLst/>
            </a:prstGeom>
          </p:spPr>
          <p:txBody>
            <a:bodyPr lIns="50800" tIns="50800" rIns="50800" bIns="50800" rtlCol="0" anchor="ctr"/>
            <a:lstStyle/>
            <a:p>
              <a:pPr algn="ctr">
                <a:lnSpc>
                  <a:spcPts val="2266"/>
                </a:lnSpc>
              </a:pPr>
              <a:endParaRPr/>
            </a:p>
          </p:txBody>
        </p:sp>
      </p:grpSp>
      <p:grpSp>
        <p:nvGrpSpPr>
          <p:cNvPr id="31" name="Group 31"/>
          <p:cNvGrpSpPr/>
          <p:nvPr/>
        </p:nvGrpSpPr>
        <p:grpSpPr>
          <a:xfrm>
            <a:off x="13547587" y="6400229"/>
            <a:ext cx="359553" cy="359553"/>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id="33" name="TextBox 33"/>
            <p:cNvSpPr txBox="1"/>
            <p:nvPr/>
          </p:nvSpPr>
          <p:spPr>
            <a:xfrm>
              <a:off x="127000" y="174625"/>
              <a:ext cx="558800" cy="511175"/>
            </a:xfrm>
            <a:prstGeom prst="rect">
              <a:avLst/>
            </a:prstGeom>
          </p:spPr>
          <p:txBody>
            <a:bodyPr lIns="50800" tIns="50800" rIns="50800" bIns="50800" rtlCol="0" anchor="ctr"/>
            <a:lstStyle/>
            <a:p>
              <a:pPr algn="ctr">
                <a:lnSpc>
                  <a:spcPts val="2266"/>
                </a:lnSpc>
              </a:pPr>
              <a:endParaRPr/>
            </a:p>
          </p:txBody>
        </p:sp>
      </p:grpSp>
      <p:sp>
        <p:nvSpPr>
          <p:cNvPr id="34" name="Freeform 34"/>
          <p:cNvSpPr/>
          <p:nvPr/>
        </p:nvSpPr>
        <p:spPr>
          <a:xfrm>
            <a:off x="734179" y="8054939"/>
            <a:ext cx="3008543" cy="1671413"/>
          </a:xfrm>
          <a:custGeom>
            <a:avLst/>
            <a:gdLst/>
            <a:ahLst/>
            <a:cxnLst/>
            <a:rect l="l" t="t" r="r" b="b"/>
            <a:pathLst>
              <a:path w="3008543" h="1671413">
                <a:moveTo>
                  <a:pt x="0" y="0"/>
                </a:moveTo>
                <a:lnTo>
                  <a:pt x="3008544" y="0"/>
                </a:lnTo>
                <a:lnTo>
                  <a:pt x="3008544" y="1671413"/>
                </a:lnTo>
                <a:lnTo>
                  <a:pt x="0" y="1671413"/>
                </a:lnTo>
                <a:lnTo>
                  <a:pt x="0" y="0"/>
                </a:lnTo>
                <a:close/>
              </a:path>
            </a:pathLst>
          </a:custGeom>
          <a:blipFill>
            <a:blip r:embed="rId8"/>
            <a:stretch>
              <a:fillRect/>
            </a:stretch>
          </a:blipFill>
        </p:spPr>
      </p:sp>
      <p:sp>
        <p:nvSpPr>
          <p:cNvPr id="35" name="Freeform 35"/>
          <p:cNvSpPr/>
          <p:nvPr/>
        </p:nvSpPr>
        <p:spPr>
          <a:xfrm>
            <a:off x="4590374" y="8339370"/>
            <a:ext cx="3126893" cy="1184311"/>
          </a:xfrm>
          <a:custGeom>
            <a:avLst/>
            <a:gdLst/>
            <a:ahLst/>
            <a:cxnLst/>
            <a:rect l="l" t="t" r="r" b="b"/>
            <a:pathLst>
              <a:path w="3126893" h="1184311">
                <a:moveTo>
                  <a:pt x="0" y="0"/>
                </a:moveTo>
                <a:lnTo>
                  <a:pt x="3126893" y="0"/>
                </a:lnTo>
                <a:lnTo>
                  <a:pt x="3126893" y="1184310"/>
                </a:lnTo>
                <a:lnTo>
                  <a:pt x="0" y="1184310"/>
                </a:lnTo>
                <a:lnTo>
                  <a:pt x="0" y="0"/>
                </a:lnTo>
                <a:close/>
              </a:path>
            </a:pathLst>
          </a:custGeom>
          <a:blipFill>
            <a:blip r:embed="rId9"/>
            <a:stretch>
              <a:fillRect/>
            </a:stretch>
          </a:blipFill>
        </p:spPr>
      </p:sp>
      <p:sp>
        <p:nvSpPr>
          <p:cNvPr id="36" name="Freeform 36"/>
          <p:cNvSpPr/>
          <p:nvPr/>
        </p:nvSpPr>
        <p:spPr>
          <a:xfrm>
            <a:off x="8550946" y="8318243"/>
            <a:ext cx="3348438" cy="1205438"/>
          </a:xfrm>
          <a:custGeom>
            <a:avLst/>
            <a:gdLst/>
            <a:ahLst/>
            <a:cxnLst/>
            <a:rect l="l" t="t" r="r" b="b"/>
            <a:pathLst>
              <a:path w="3348438" h="1205438">
                <a:moveTo>
                  <a:pt x="0" y="0"/>
                </a:moveTo>
                <a:lnTo>
                  <a:pt x="3348437" y="0"/>
                </a:lnTo>
                <a:lnTo>
                  <a:pt x="3348437" y="1205437"/>
                </a:lnTo>
                <a:lnTo>
                  <a:pt x="0" y="1205437"/>
                </a:lnTo>
                <a:lnTo>
                  <a:pt x="0" y="0"/>
                </a:lnTo>
                <a:close/>
              </a:path>
            </a:pathLst>
          </a:custGeom>
          <a:blipFill>
            <a:blip r:embed="rId10"/>
            <a:stretch>
              <a:fillRect/>
            </a:stretch>
          </a:blipFill>
        </p:spPr>
      </p:sp>
      <p:sp>
        <p:nvSpPr>
          <p:cNvPr id="37" name="Freeform 37"/>
          <p:cNvSpPr/>
          <p:nvPr/>
        </p:nvSpPr>
        <p:spPr>
          <a:xfrm>
            <a:off x="12219734" y="8369264"/>
            <a:ext cx="3702482" cy="1027439"/>
          </a:xfrm>
          <a:custGeom>
            <a:avLst/>
            <a:gdLst/>
            <a:ahLst/>
            <a:cxnLst/>
            <a:rect l="l" t="t" r="r" b="b"/>
            <a:pathLst>
              <a:path w="3702482" h="1027439">
                <a:moveTo>
                  <a:pt x="0" y="0"/>
                </a:moveTo>
                <a:lnTo>
                  <a:pt x="3702482" y="0"/>
                </a:lnTo>
                <a:lnTo>
                  <a:pt x="3702482" y="1027439"/>
                </a:lnTo>
                <a:lnTo>
                  <a:pt x="0" y="1027439"/>
                </a:lnTo>
                <a:lnTo>
                  <a:pt x="0" y="0"/>
                </a:lnTo>
                <a:close/>
              </a:path>
            </a:pathLst>
          </a:custGeom>
          <a:blipFill>
            <a:blip r:embed="rId11"/>
            <a:stretch>
              <a:fillRect/>
            </a:stretch>
          </a:blipFill>
        </p:spPr>
      </p:sp>
      <p:sp>
        <p:nvSpPr>
          <p:cNvPr id="38" name="TextBox 38"/>
          <p:cNvSpPr txBox="1"/>
          <p:nvPr/>
        </p:nvSpPr>
        <p:spPr>
          <a:xfrm>
            <a:off x="9508517" y="2859788"/>
            <a:ext cx="2197323" cy="510709"/>
          </a:xfrm>
          <a:prstGeom prst="rect">
            <a:avLst/>
          </a:prstGeom>
        </p:spPr>
        <p:txBody>
          <a:bodyPr lIns="0" tIns="0" rIns="0" bIns="0" rtlCol="0" anchor="t">
            <a:spAutoFit/>
          </a:bodyPr>
          <a:lstStyle/>
          <a:p>
            <a:pPr algn="l">
              <a:lnSpc>
                <a:spcPts val="3914"/>
              </a:lnSpc>
            </a:pPr>
            <a:r>
              <a:rPr lang="en-US" sz="3800" b="1">
                <a:solidFill>
                  <a:srgbClr val="185079"/>
                </a:solidFill>
                <a:latin typeface="Open Sauce Bold"/>
                <a:ea typeface="Open Sauce Bold"/>
                <a:cs typeface="Open Sauce Bold"/>
                <a:sym typeface="Open Sauce Bold"/>
              </a:rPr>
              <a:t>03</a:t>
            </a:r>
          </a:p>
        </p:txBody>
      </p:sp>
      <p:sp>
        <p:nvSpPr>
          <p:cNvPr id="39" name="TextBox 39"/>
          <p:cNvSpPr txBox="1"/>
          <p:nvPr/>
        </p:nvSpPr>
        <p:spPr>
          <a:xfrm>
            <a:off x="13372716" y="2859788"/>
            <a:ext cx="2197323" cy="510709"/>
          </a:xfrm>
          <a:prstGeom prst="rect">
            <a:avLst/>
          </a:prstGeom>
        </p:spPr>
        <p:txBody>
          <a:bodyPr lIns="0" tIns="0" rIns="0" bIns="0" rtlCol="0" anchor="t">
            <a:spAutoFit/>
          </a:bodyPr>
          <a:lstStyle/>
          <a:p>
            <a:pPr algn="l">
              <a:lnSpc>
                <a:spcPts val="3914"/>
              </a:lnSpc>
            </a:pPr>
            <a:r>
              <a:rPr lang="en-US" sz="3800" b="1">
                <a:solidFill>
                  <a:srgbClr val="185079"/>
                </a:solidFill>
                <a:latin typeface="Open Sauce Bold"/>
                <a:ea typeface="Open Sauce Bold"/>
                <a:cs typeface="Open Sauce Bold"/>
                <a:sym typeface="Open Sauce Bold"/>
              </a:rPr>
              <a:t>04</a:t>
            </a:r>
          </a:p>
        </p:txBody>
      </p:sp>
      <p:sp>
        <p:nvSpPr>
          <p:cNvPr id="40" name="TextBox 40"/>
          <p:cNvSpPr txBox="1"/>
          <p:nvPr/>
        </p:nvSpPr>
        <p:spPr>
          <a:xfrm>
            <a:off x="3477421" y="785393"/>
            <a:ext cx="11333159" cy="1111237"/>
          </a:xfrm>
          <a:prstGeom prst="rect">
            <a:avLst/>
          </a:prstGeom>
        </p:spPr>
        <p:txBody>
          <a:bodyPr lIns="0" tIns="0" rIns="0" bIns="0" rtlCol="0" anchor="t">
            <a:spAutoFit/>
          </a:bodyPr>
          <a:lstStyle/>
          <a:p>
            <a:pPr marL="0" lvl="0" indent="0" algn="ctr">
              <a:lnSpc>
                <a:spcPts val="8550"/>
              </a:lnSpc>
              <a:spcBef>
                <a:spcPct val="0"/>
              </a:spcBef>
            </a:pPr>
            <a:r>
              <a:rPr lang="en-US" sz="7917" b="1" spc="-467">
                <a:solidFill>
                  <a:srgbClr val="185079"/>
                </a:solidFill>
                <a:latin typeface="Open Sauce Semi-Bold"/>
                <a:ea typeface="Open Sauce Semi-Bold"/>
                <a:cs typeface="Open Sauce Semi-Bold"/>
                <a:sym typeface="Open Sauce Semi-Bold"/>
              </a:rPr>
              <a:t>TECHNOLOGIES USED</a:t>
            </a:r>
          </a:p>
        </p:txBody>
      </p:sp>
      <p:sp>
        <p:nvSpPr>
          <p:cNvPr id="41" name="TextBox 41"/>
          <p:cNvSpPr txBox="1"/>
          <p:nvPr/>
        </p:nvSpPr>
        <p:spPr>
          <a:xfrm>
            <a:off x="12639126" y="3392735"/>
            <a:ext cx="3075734" cy="481544"/>
          </a:xfrm>
          <a:prstGeom prst="rect">
            <a:avLst/>
          </a:prstGeom>
        </p:spPr>
        <p:txBody>
          <a:bodyPr lIns="0" tIns="0" rIns="0" bIns="0" rtlCol="0" anchor="t">
            <a:spAutoFit/>
          </a:bodyPr>
          <a:lstStyle/>
          <a:p>
            <a:pPr algn="l">
              <a:lnSpc>
                <a:spcPts val="4022"/>
              </a:lnSpc>
            </a:pPr>
            <a:r>
              <a:rPr lang="en-US" sz="2699" b="1">
                <a:solidFill>
                  <a:srgbClr val="185079"/>
                </a:solidFill>
                <a:latin typeface="Open Sauce Bold"/>
                <a:ea typeface="Open Sauce Bold"/>
                <a:cs typeface="Open Sauce Bold"/>
                <a:sym typeface="Open Sauce Bold"/>
              </a:rPr>
              <a:t>SCIKIT-LEARN</a:t>
            </a:r>
          </a:p>
        </p:txBody>
      </p:sp>
      <p:sp>
        <p:nvSpPr>
          <p:cNvPr id="42" name="TextBox 42"/>
          <p:cNvSpPr txBox="1"/>
          <p:nvPr/>
        </p:nvSpPr>
        <p:spPr>
          <a:xfrm>
            <a:off x="9334792" y="3472563"/>
            <a:ext cx="3075734" cy="481544"/>
          </a:xfrm>
          <a:prstGeom prst="rect">
            <a:avLst/>
          </a:prstGeom>
        </p:spPr>
        <p:txBody>
          <a:bodyPr lIns="0" tIns="0" rIns="0" bIns="0" rtlCol="0" anchor="t">
            <a:spAutoFit/>
          </a:bodyPr>
          <a:lstStyle/>
          <a:p>
            <a:pPr algn="l">
              <a:lnSpc>
                <a:spcPts val="4022"/>
              </a:lnSpc>
            </a:pPr>
            <a:r>
              <a:rPr lang="en-US" sz="2699" b="1">
                <a:solidFill>
                  <a:srgbClr val="185079"/>
                </a:solidFill>
                <a:latin typeface="Open Sauce Bold"/>
                <a:ea typeface="Open Sauce Bold"/>
                <a:cs typeface="Open Sauce Bold"/>
                <a:sym typeface="Open Sauce Bold"/>
              </a:rPr>
              <a:t>PANDAS</a:t>
            </a:r>
          </a:p>
        </p:txBody>
      </p:sp>
      <p:sp>
        <p:nvSpPr>
          <p:cNvPr id="43" name="TextBox 43"/>
          <p:cNvSpPr txBox="1"/>
          <p:nvPr/>
        </p:nvSpPr>
        <p:spPr>
          <a:xfrm>
            <a:off x="1953845" y="2948921"/>
            <a:ext cx="2197323" cy="510709"/>
          </a:xfrm>
          <a:prstGeom prst="rect">
            <a:avLst/>
          </a:prstGeom>
        </p:spPr>
        <p:txBody>
          <a:bodyPr lIns="0" tIns="0" rIns="0" bIns="0" rtlCol="0" anchor="t">
            <a:spAutoFit/>
          </a:bodyPr>
          <a:lstStyle/>
          <a:p>
            <a:pPr algn="l">
              <a:lnSpc>
                <a:spcPts val="3914"/>
              </a:lnSpc>
            </a:pPr>
            <a:r>
              <a:rPr lang="en-US" sz="3800" b="1">
                <a:solidFill>
                  <a:srgbClr val="185079"/>
                </a:solidFill>
                <a:latin typeface="Open Sauce Bold"/>
                <a:ea typeface="Open Sauce Bold"/>
                <a:cs typeface="Open Sauce Bold"/>
                <a:sym typeface="Open Sauce Bold"/>
              </a:rPr>
              <a:t>01</a:t>
            </a:r>
          </a:p>
        </p:txBody>
      </p:sp>
      <p:sp>
        <p:nvSpPr>
          <p:cNvPr id="44" name="TextBox 44"/>
          <p:cNvSpPr txBox="1"/>
          <p:nvPr/>
        </p:nvSpPr>
        <p:spPr>
          <a:xfrm>
            <a:off x="5644319" y="2876129"/>
            <a:ext cx="2197323" cy="510709"/>
          </a:xfrm>
          <a:prstGeom prst="rect">
            <a:avLst/>
          </a:prstGeom>
        </p:spPr>
        <p:txBody>
          <a:bodyPr lIns="0" tIns="0" rIns="0" bIns="0" rtlCol="0" anchor="t">
            <a:spAutoFit/>
          </a:bodyPr>
          <a:lstStyle/>
          <a:p>
            <a:pPr algn="l">
              <a:lnSpc>
                <a:spcPts val="3914"/>
              </a:lnSpc>
            </a:pPr>
            <a:r>
              <a:rPr lang="en-US" sz="3800" b="1">
                <a:solidFill>
                  <a:srgbClr val="185079"/>
                </a:solidFill>
                <a:latin typeface="Open Sauce Bold"/>
                <a:ea typeface="Open Sauce Bold"/>
                <a:cs typeface="Open Sauce Bold"/>
                <a:sym typeface="Open Sauce Bold"/>
              </a:rPr>
              <a:t>02</a:t>
            </a:r>
          </a:p>
        </p:txBody>
      </p:sp>
      <p:sp>
        <p:nvSpPr>
          <p:cNvPr id="45" name="TextBox 45"/>
          <p:cNvSpPr txBox="1"/>
          <p:nvPr/>
        </p:nvSpPr>
        <p:spPr>
          <a:xfrm>
            <a:off x="4814617" y="3472563"/>
            <a:ext cx="3075734" cy="481544"/>
          </a:xfrm>
          <a:prstGeom prst="rect">
            <a:avLst/>
          </a:prstGeom>
        </p:spPr>
        <p:txBody>
          <a:bodyPr lIns="0" tIns="0" rIns="0" bIns="0" rtlCol="0" anchor="t">
            <a:spAutoFit/>
          </a:bodyPr>
          <a:lstStyle/>
          <a:p>
            <a:pPr algn="l">
              <a:lnSpc>
                <a:spcPts val="4022"/>
              </a:lnSpc>
            </a:pPr>
            <a:r>
              <a:rPr lang="en-US" sz="2699" b="1">
                <a:solidFill>
                  <a:srgbClr val="185079"/>
                </a:solidFill>
                <a:latin typeface="Open Sauce Bold"/>
                <a:ea typeface="Open Sauce Bold"/>
                <a:cs typeface="Open Sauce Bold"/>
                <a:sym typeface="Open Sauce Bold"/>
              </a:rPr>
              <a:t>POSTEGRE SQL</a:t>
            </a:r>
          </a:p>
        </p:txBody>
      </p:sp>
      <p:sp>
        <p:nvSpPr>
          <p:cNvPr id="46" name="TextBox 46"/>
          <p:cNvSpPr txBox="1"/>
          <p:nvPr/>
        </p:nvSpPr>
        <p:spPr>
          <a:xfrm>
            <a:off x="1514640" y="3469155"/>
            <a:ext cx="3075734" cy="481544"/>
          </a:xfrm>
          <a:prstGeom prst="rect">
            <a:avLst/>
          </a:prstGeom>
        </p:spPr>
        <p:txBody>
          <a:bodyPr lIns="0" tIns="0" rIns="0" bIns="0" rtlCol="0" anchor="t">
            <a:spAutoFit/>
          </a:bodyPr>
          <a:lstStyle/>
          <a:p>
            <a:pPr algn="l">
              <a:lnSpc>
                <a:spcPts val="4022"/>
              </a:lnSpc>
            </a:pPr>
            <a:r>
              <a:rPr lang="en-US" sz="2699" b="1">
                <a:solidFill>
                  <a:srgbClr val="185079"/>
                </a:solidFill>
                <a:latin typeface="Open Sauce Bold"/>
                <a:ea typeface="Open Sauce Bold"/>
                <a:cs typeface="Open Sauce Bold"/>
                <a:sym typeface="Open Sauce Bold"/>
              </a:rPr>
              <a:t>PYTHON</a:t>
            </a:r>
          </a:p>
        </p:txBody>
      </p:sp>
      <p:sp>
        <p:nvSpPr>
          <p:cNvPr id="47" name="TextBox 47"/>
          <p:cNvSpPr txBox="1"/>
          <p:nvPr/>
        </p:nvSpPr>
        <p:spPr>
          <a:xfrm>
            <a:off x="2001429" y="7138886"/>
            <a:ext cx="2197323" cy="510709"/>
          </a:xfrm>
          <a:prstGeom prst="rect">
            <a:avLst/>
          </a:prstGeom>
        </p:spPr>
        <p:txBody>
          <a:bodyPr lIns="0" tIns="0" rIns="0" bIns="0" rtlCol="0" anchor="t">
            <a:spAutoFit/>
          </a:bodyPr>
          <a:lstStyle/>
          <a:p>
            <a:pPr algn="l">
              <a:lnSpc>
                <a:spcPts val="3914"/>
              </a:lnSpc>
            </a:pPr>
            <a:r>
              <a:rPr lang="en-US" sz="3800" b="1">
                <a:solidFill>
                  <a:srgbClr val="185079"/>
                </a:solidFill>
                <a:latin typeface="Open Sauce Bold"/>
                <a:ea typeface="Open Sauce Bold"/>
                <a:cs typeface="Open Sauce Bold"/>
                <a:sym typeface="Open Sauce Bold"/>
              </a:rPr>
              <a:t>05</a:t>
            </a:r>
          </a:p>
        </p:txBody>
      </p:sp>
      <p:sp>
        <p:nvSpPr>
          <p:cNvPr id="48" name="TextBox 48"/>
          <p:cNvSpPr txBox="1"/>
          <p:nvPr/>
        </p:nvSpPr>
        <p:spPr>
          <a:xfrm>
            <a:off x="5644319" y="7138886"/>
            <a:ext cx="2197323" cy="510709"/>
          </a:xfrm>
          <a:prstGeom prst="rect">
            <a:avLst/>
          </a:prstGeom>
        </p:spPr>
        <p:txBody>
          <a:bodyPr lIns="0" tIns="0" rIns="0" bIns="0" rtlCol="0" anchor="t">
            <a:spAutoFit/>
          </a:bodyPr>
          <a:lstStyle/>
          <a:p>
            <a:pPr algn="l">
              <a:lnSpc>
                <a:spcPts val="3914"/>
              </a:lnSpc>
            </a:pPr>
            <a:r>
              <a:rPr lang="en-US" sz="3800" b="1">
                <a:solidFill>
                  <a:srgbClr val="185079"/>
                </a:solidFill>
                <a:latin typeface="Open Sauce Bold"/>
                <a:ea typeface="Open Sauce Bold"/>
                <a:cs typeface="Open Sauce Bold"/>
                <a:sym typeface="Open Sauce Bold"/>
              </a:rPr>
              <a:t>06</a:t>
            </a:r>
          </a:p>
        </p:txBody>
      </p:sp>
      <p:sp>
        <p:nvSpPr>
          <p:cNvPr id="49" name="TextBox 49"/>
          <p:cNvSpPr txBox="1"/>
          <p:nvPr/>
        </p:nvSpPr>
        <p:spPr>
          <a:xfrm>
            <a:off x="9508517" y="7138886"/>
            <a:ext cx="2197323" cy="510709"/>
          </a:xfrm>
          <a:prstGeom prst="rect">
            <a:avLst/>
          </a:prstGeom>
        </p:spPr>
        <p:txBody>
          <a:bodyPr lIns="0" tIns="0" rIns="0" bIns="0" rtlCol="0" anchor="t">
            <a:spAutoFit/>
          </a:bodyPr>
          <a:lstStyle/>
          <a:p>
            <a:pPr algn="l">
              <a:lnSpc>
                <a:spcPts val="3914"/>
              </a:lnSpc>
            </a:pPr>
            <a:r>
              <a:rPr lang="en-US" sz="3800" b="1">
                <a:solidFill>
                  <a:srgbClr val="185079"/>
                </a:solidFill>
                <a:latin typeface="Open Sauce Bold"/>
                <a:ea typeface="Open Sauce Bold"/>
                <a:cs typeface="Open Sauce Bold"/>
                <a:sym typeface="Open Sauce Bold"/>
              </a:rPr>
              <a:t>07</a:t>
            </a:r>
          </a:p>
        </p:txBody>
      </p:sp>
      <p:sp>
        <p:nvSpPr>
          <p:cNvPr id="50" name="TextBox 50"/>
          <p:cNvSpPr txBox="1"/>
          <p:nvPr/>
        </p:nvSpPr>
        <p:spPr>
          <a:xfrm>
            <a:off x="13372716" y="7138886"/>
            <a:ext cx="2197323" cy="510709"/>
          </a:xfrm>
          <a:prstGeom prst="rect">
            <a:avLst/>
          </a:prstGeom>
        </p:spPr>
        <p:txBody>
          <a:bodyPr lIns="0" tIns="0" rIns="0" bIns="0" rtlCol="0" anchor="t">
            <a:spAutoFit/>
          </a:bodyPr>
          <a:lstStyle/>
          <a:p>
            <a:pPr algn="l">
              <a:lnSpc>
                <a:spcPts val="3914"/>
              </a:lnSpc>
            </a:pPr>
            <a:r>
              <a:rPr lang="en-US" sz="3800" b="1">
                <a:solidFill>
                  <a:srgbClr val="185079"/>
                </a:solidFill>
                <a:latin typeface="Open Sauce Bold"/>
                <a:ea typeface="Open Sauce Bold"/>
                <a:cs typeface="Open Sauce Bold"/>
                <a:sym typeface="Open Sauce Bold"/>
              </a:rPr>
              <a:t>08</a:t>
            </a:r>
          </a:p>
        </p:txBody>
      </p:sp>
      <p:sp>
        <p:nvSpPr>
          <p:cNvPr id="51" name="TextBox 51"/>
          <p:cNvSpPr txBox="1"/>
          <p:nvPr/>
        </p:nvSpPr>
        <p:spPr>
          <a:xfrm>
            <a:off x="1441907" y="7573395"/>
            <a:ext cx="3075734" cy="481544"/>
          </a:xfrm>
          <a:prstGeom prst="rect">
            <a:avLst/>
          </a:prstGeom>
        </p:spPr>
        <p:txBody>
          <a:bodyPr lIns="0" tIns="0" rIns="0" bIns="0" rtlCol="0" anchor="t">
            <a:spAutoFit/>
          </a:bodyPr>
          <a:lstStyle/>
          <a:p>
            <a:pPr algn="l">
              <a:lnSpc>
                <a:spcPts val="4022"/>
              </a:lnSpc>
            </a:pPr>
            <a:r>
              <a:rPr lang="en-US" sz="2699" b="1">
                <a:solidFill>
                  <a:srgbClr val="185079"/>
                </a:solidFill>
                <a:latin typeface="Open Sauce Bold"/>
                <a:ea typeface="Open Sauce Bold"/>
                <a:cs typeface="Open Sauce Bold"/>
                <a:sym typeface="Open Sauce Bold"/>
              </a:rPr>
              <a:t>XGBOOST</a:t>
            </a:r>
          </a:p>
        </p:txBody>
      </p:sp>
      <p:sp>
        <p:nvSpPr>
          <p:cNvPr id="52" name="TextBox 52"/>
          <p:cNvSpPr txBox="1"/>
          <p:nvPr/>
        </p:nvSpPr>
        <p:spPr>
          <a:xfrm>
            <a:off x="5475212" y="7573395"/>
            <a:ext cx="3075734" cy="481544"/>
          </a:xfrm>
          <a:prstGeom prst="rect">
            <a:avLst/>
          </a:prstGeom>
        </p:spPr>
        <p:txBody>
          <a:bodyPr lIns="0" tIns="0" rIns="0" bIns="0" rtlCol="0" anchor="t">
            <a:spAutoFit/>
          </a:bodyPr>
          <a:lstStyle/>
          <a:p>
            <a:pPr algn="l">
              <a:lnSpc>
                <a:spcPts val="4022"/>
              </a:lnSpc>
            </a:pPr>
            <a:r>
              <a:rPr lang="en-US" sz="2699" b="1">
                <a:solidFill>
                  <a:srgbClr val="185079"/>
                </a:solidFill>
                <a:latin typeface="Open Sauce Bold"/>
                <a:ea typeface="Open Sauce Bold"/>
                <a:cs typeface="Open Sauce Bold"/>
                <a:sym typeface="Open Sauce Bold"/>
              </a:rPr>
              <a:t>SHAP</a:t>
            </a:r>
          </a:p>
        </p:txBody>
      </p:sp>
      <p:sp>
        <p:nvSpPr>
          <p:cNvPr id="53" name="TextBox 53"/>
          <p:cNvSpPr txBox="1"/>
          <p:nvPr/>
        </p:nvSpPr>
        <p:spPr>
          <a:xfrm>
            <a:off x="9144000" y="7573395"/>
            <a:ext cx="3075734" cy="481544"/>
          </a:xfrm>
          <a:prstGeom prst="rect">
            <a:avLst/>
          </a:prstGeom>
        </p:spPr>
        <p:txBody>
          <a:bodyPr lIns="0" tIns="0" rIns="0" bIns="0" rtlCol="0" anchor="t">
            <a:spAutoFit/>
          </a:bodyPr>
          <a:lstStyle/>
          <a:p>
            <a:pPr algn="l">
              <a:lnSpc>
                <a:spcPts val="4022"/>
              </a:lnSpc>
            </a:pPr>
            <a:r>
              <a:rPr lang="en-US" sz="2699" b="1">
                <a:solidFill>
                  <a:srgbClr val="185079"/>
                </a:solidFill>
                <a:latin typeface="Open Sauce Bold"/>
                <a:ea typeface="Open Sauce Bold"/>
                <a:cs typeface="Open Sauce Bold"/>
                <a:sym typeface="Open Sauce Bold"/>
              </a:rPr>
              <a:t>FASTAPI</a:t>
            </a:r>
          </a:p>
        </p:txBody>
      </p:sp>
      <p:sp>
        <p:nvSpPr>
          <p:cNvPr id="54" name="TextBox 54"/>
          <p:cNvSpPr txBox="1"/>
          <p:nvPr/>
        </p:nvSpPr>
        <p:spPr>
          <a:xfrm>
            <a:off x="12639126" y="7573395"/>
            <a:ext cx="3075734" cy="481544"/>
          </a:xfrm>
          <a:prstGeom prst="rect">
            <a:avLst/>
          </a:prstGeom>
        </p:spPr>
        <p:txBody>
          <a:bodyPr lIns="0" tIns="0" rIns="0" bIns="0" rtlCol="0" anchor="t">
            <a:spAutoFit/>
          </a:bodyPr>
          <a:lstStyle/>
          <a:p>
            <a:pPr algn="l">
              <a:lnSpc>
                <a:spcPts val="4022"/>
              </a:lnSpc>
            </a:pPr>
            <a:r>
              <a:rPr lang="en-US" sz="2699" b="1">
                <a:solidFill>
                  <a:srgbClr val="185079"/>
                </a:solidFill>
                <a:latin typeface="Open Sauce Bold"/>
                <a:ea typeface="Open Sauce Bold"/>
                <a:cs typeface="Open Sauce Bold"/>
                <a:sym typeface="Open Sauce Bold"/>
              </a:rPr>
              <a:t>STREAMLIT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1822642" y="4607818"/>
            <a:ext cx="14642716" cy="5351408"/>
          </a:xfrm>
          <a:custGeom>
            <a:avLst/>
            <a:gdLst/>
            <a:ahLst/>
            <a:cxnLst/>
            <a:rect l="l" t="t" r="r" b="b"/>
            <a:pathLst>
              <a:path w="14642716" h="5351408">
                <a:moveTo>
                  <a:pt x="0" y="0"/>
                </a:moveTo>
                <a:lnTo>
                  <a:pt x="14642716" y="0"/>
                </a:lnTo>
                <a:lnTo>
                  <a:pt x="14642716" y="5351409"/>
                </a:lnTo>
                <a:lnTo>
                  <a:pt x="0" y="5351409"/>
                </a:lnTo>
                <a:lnTo>
                  <a:pt x="0" y="0"/>
                </a:lnTo>
                <a:close/>
              </a:path>
            </a:pathLst>
          </a:custGeom>
          <a:blipFill>
            <a:blip r:embed="rId3"/>
            <a:stretch>
              <a:fillRect t="-25806" b="-11005"/>
            </a:stretch>
          </a:blipFill>
        </p:spPr>
      </p:sp>
      <p:sp>
        <p:nvSpPr>
          <p:cNvPr id="4" name="TextBox 4"/>
          <p:cNvSpPr txBox="1"/>
          <p:nvPr/>
        </p:nvSpPr>
        <p:spPr>
          <a:xfrm>
            <a:off x="693263" y="742426"/>
            <a:ext cx="6737800" cy="2193497"/>
          </a:xfrm>
          <a:prstGeom prst="rect">
            <a:avLst/>
          </a:prstGeom>
        </p:spPr>
        <p:txBody>
          <a:bodyPr lIns="0" tIns="0" rIns="0" bIns="0" rtlCol="0" anchor="t">
            <a:spAutoFit/>
          </a:bodyPr>
          <a:lstStyle/>
          <a:p>
            <a:pPr marL="0" lvl="0" indent="0" algn="l">
              <a:lnSpc>
                <a:spcPts val="8550"/>
              </a:lnSpc>
              <a:spcBef>
                <a:spcPct val="0"/>
              </a:spcBef>
            </a:pPr>
            <a:r>
              <a:rPr lang="en-US" sz="7917" b="1" spc="-467">
                <a:solidFill>
                  <a:srgbClr val="185079"/>
                </a:solidFill>
                <a:latin typeface="Open Sauce Semi-Bold"/>
                <a:ea typeface="Open Sauce Semi-Bold"/>
                <a:cs typeface="Open Sauce Semi-Bold"/>
                <a:sym typeface="Open Sauce Semi-Bold"/>
              </a:rPr>
              <a:t>PROJECT WORKFLOW</a:t>
            </a:r>
          </a:p>
        </p:txBody>
      </p:sp>
      <p:sp>
        <p:nvSpPr>
          <p:cNvPr id="5" name="TextBox 5"/>
          <p:cNvSpPr txBox="1"/>
          <p:nvPr/>
        </p:nvSpPr>
        <p:spPr>
          <a:xfrm>
            <a:off x="1636511" y="3230472"/>
            <a:ext cx="15014978" cy="1044698"/>
          </a:xfrm>
          <a:prstGeom prst="rect">
            <a:avLst/>
          </a:prstGeom>
        </p:spPr>
        <p:txBody>
          <a:bodyPr lIns="0" tIns="0" rIns="0" bIns="0" rtlCol="0" anchor="t">
            <a:spAutoFit/>
          </a:bodyPr>
          <a:lstStyle/>
          <a:p>
            <a:pPr algn="just">
              <a:lnSpc>
                <a:spcPts val="2799"/>
              </a:lnSpc>
            </a:pPr>
            <a:r>
              <a:rPr lang="en-US" sz="1999" b="1">
                <a:solidFill>
                  <a:srgbClr val="185079"/>
                </a:solidFill>
                <a:latin typeface="Open Sauce Bold"/>
                <a:ea typeface="Open Sauce Bold"/>
                <a:cs typeface="Open Sauce Bold"/>
                <a:sym typeface="Open Sauce Bold"/>
              </a:rPr>
              <a:t>It includes a row of icons that represent each step in a process. The steps go from collecting data to building a dashboard. There is text on the left describing the project section. The overall look is clean with a soft blue theme.</a:t>
            </a:r>
          </a:p>
          <a:p>
            <a:pPr marL="0" lvl="0" indent="0" algn="just">
              <a:lnSpc>
                <a:spcPts val="2799"/>
              </a:lnSpc>
              <a:spcBef>
                <a:spcPct val="0"/>
              </a:spcBef>
            </a:pPr>
            <a:endParaRPr lang="en-US" sz="1999" b="1">
              <a:solidFill>
                <a:srgbClr val="185079"/>
              </a:solidFill>
              <a:latin typeface="Open Sauce Bold"/>
              <a:ea typeface="Open Sauce Bold"/>
              <a:cs typeface="Open Sauce Bold"/>
              <a:sym typeface="Open Sauce Bold"/>
            </a:endParaRPr>
          </a:p>
        </p:txBody>
      </p:sp>
      <p:sp>
        <p:nvSpPr>
          <p:cNvPr id="6" name="TextBox 6"/>
          <p:cNvSpPr txBox="1"/>
          <p:nvPr/>
        </p:nvSpPr>
        <p:spPr>
          <a:xfrm>
            <a:off x="9475862" y="6474374"/>
            <a:ext cx="2866788" cy="1589721"/>
          </a:xfrm>
          <a:prstGeom prst="rect">
            <a:avLst/>
          </a:prstGeom>
        </p:spPr>
        <p:txBody>
          <a:bodyPr lIns="0" tIns="0" rIns="0" bIns="0" rtlCol="0" anchor="t">
            <a:spAutoFit/>
          </a:bodyPr>
          <a:lstStyle/>
          <a:p>
            <a:pPr algn="ctr">
              <a:lnSpc>
                <a:spcPts val="2152"/>
              </a:lnSpc>
              <a:spcBef>
                <a:spcPct val="0"/>
              </a:spcBef>
            </a:pPr>
            <a:r>
              <a:rPr lang="en-US" sz="1537">
                <a:solidFill>
                  <a:srgbClr val="FBF6F1"/>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sp>
        <p:nvSpPr>
          <p:cNvPr id="7" name="TextBox 7"/>
          <p:cNvSpPr txBox="1"/>
          <p:nvPr/>
        </p:nvSpPr>
        <p:spPr>
          <a:xfrm>
            <a:off x="9265760" y="5660708"/>
            <a:ext cx="3286993" cy="679450"/>
          </a:xfrm>
          <a:prstGeom prst="rect">
            <a:avLst/>
          </a:prstGeom>
        </p:spPr>
        <p:txBody>
          <a:bodyPr lIns="0" tIns="0" rIns="0" bIns="0" rtlCol="0" anchor="t">
            <a:spAutoFit/>
          </a:bodyPr>
          <a:lstStyle/>
          <a:p>
            <a:pPr marL="0" lvl="0" indent="0" algn="ctr">
              <a:lnSpc>
                <a:spcPts val="5599"/>
              </a:lnSpc>
              <a:spcBef>
                <a:spcPct val="0"/>
              </a:spcBef>
            </a:pPr>
            <a:r>
              <a:rPr lang="en-US" sz="3999" b="1" spc="23">
                <a:solidFill>
                  <a:srgbClr val="FBF6F1"/>
                </a:solidFill>
                <a:latin typeface="Open Sauce Bold"/>
                <a:ea typeface="Open Sauce Bold"/>
                <a:cs typeface="Open Sauce Bold"/>
                <a:sym typeface="Open Sauce Bold"/>
              </a:rPr>
              <a:t>03</a:t>
            </a:r>
          </a:p>
        </p:txBody>
      </p:sp>
      <p:sp>
        <p:nvSpPr>
          <p:cNvPr id="8" name="TextBox 8"/>
          <p:cNvSpPr txBox="1"/>
          <p:nvPr/>
        </p:nvSpPr>
        <p:spPr>
          <a:xfrm>
            <a:off x="13679650" y="6474374"/>
            <a:ext cx="2866788" cy="1589721"/>
          </a:xfrm>
          <a:prstGeom prst="rect">
            <a:avLst/>
          </a:prstGeom>
        </p:spPr>
        <p:txBody>
          <a:bodyPr lIns="0" tIns="0" rIns="0" bIns="0" rtlCol="0" anchor="t">
            <a:spAutoFit/>
          </a:bodyPr>
          <a:lstStyle/>
          <a:p>
            <a:pPr algn="ctr">
              <a:lnSpc>
                <a:spcPts val="2152"/>
              </a:lnSpc>
              <a:spcBef>
                <a:spcPct val="0"/>
              </a:spcBef>
            </a:pPr>
            <a:r>
              <a:rPr lang="en-US" sz="1537">
                <a:solidFill>
                  <a:srgbClr val="FBF6F1"/>
                </a:solidFill>
                <a:latin typeface="Open Sauce"/>
                <a:ea typeface="Open Sauce"/>
                <a:cs typeface="Open Sauce"/>
                <a:sym typeface="Open Sauce"/>
              </a:rPr>
              <a:t>Lorem ipsum dolor sit amet, consectetur adipiscing elit, sed do eiusmod tempor incididunt ut labore et dolore magna aliqua. Ut enim ad minim veniam.</a:t>
            </a:r>
          </a:p>
        </p:txBody>
      </p:sp>
      <p:sp>
        <p:nvSpPr>
          <p:cNvPr id="9" name="TextBox 9"/>
          <p:cNvSpPr txBox="1"/>
          <p:nvPr/>
        </p:nvSpPr>
        <p:spPr>
          <a:xfrm>
            <a:off x="13469547" y="5660708"/>
            <a:ext cx="3286993" cy="679450"/>
          </a:xfrm>
          <a:prstGeom prst="rect">
            <a:avLst/>
          </a:prstGeom>
        </p:spPr>
        <p:txBody>
          <a:bodyPr lIns="0" tIns="0" rIns="0" bIns="0" rtlCol="0" anchor="t">
            <a:spAutoFit/>
          </a:bodyPr>
          <a:lstStyle/>
          <a:p>
            <a:pPr marL="0" lvl="0" indent="0" algn="ctr">
              <a:lnSpc>
                <a:spcPts val="5599"/>
              </a:lnSpc>
              <a:spcBef>
                <a:spcPct val="0"/>
              </a:spcBef>
            </a:pPr>
            <a:r>
              <a:rPr lang="en-US" sz="3999" b="1" spc="23">
                <a:solidFill>
                  <a:srgbClr val="FBF6F1"/>
                </a:solidFill>
                <a:latin typeface="Open Sauce Bold"/>
                <a:ea typeface="Open Sauce Bold"/>
                <a:cs typeface="Open Sauce Bold"/>
                <a:sym typeface="Open Sauce Bold"/>
              </a:rPr>
              <a:t>04</a:t>
            </a:r>
          </a:p>
        </p:txBody>
      </p:sp>
      <p:sp>
        <p:nvSpPr>
          <p:cNvPr id="10" name="Freeform 10"/>
          <p:cNvSpPr/>
          <p:nvPr/>
        </p:nvSpPr>
        <p:spPr>
          <a:xfrm>
            <a:off x="8203292" y="-5758919"/>
            <a:ext cx="15919790" cy="13575239"/>
          </a:xfrm>
          <a:custGeom>
            <a:avLst/>
            <a:gdLst/>
            <a:ahLst/>
            <a:cxnLst/>
            <a:rect l="l" t="t" r="r" b="b"/>
            <a:pathLst>
              <a:path w="15919790" h="13575239">
                <a:moveTo>
                  <a:pt x="0" y="0"/>
                </a:moveTo>
                <a:lnTo>
                  <a:pt x="15919790" y="0"/>
                </a:lnTo>
                <a:lnTo>
                  <a:pt x="15919790" y="13575238"/>
                </a:lnTo>
                <a:lnTo>
                  <a:pt x="0" y="13575238"/>
                </a:lnTo>
                <a:lnTo>
                  <a:pt x="0" y="0"/>
                </a:lnTo>
                <a:close/>
              </a:path>
            </a:pathLst>
          </a:custGeom>
          <a:blipFill>
            <a:blip r:embed="rId4"/>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4" name="Freeform 4"/>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Freeform 5"/>
          <p:cNvSpPr/>
          <p:nvPr/>
        </p:nvSpPr>
        <p:spPr>
          <a:xfrm>
            <a:off x="9875219" y="3194875"/>
            <a:ext cx="6215581" cy="4505801"/>
          </a:xfrm>
          <a:custGeom>
            <a:avLst/>
            <a:gdLst/>
            <a:ahLst/>
            <a:cxnLst/>
            <a:rect l="l" t="t" r="r" b="b"/>
            <a:pathLst>
              <a:path w="6215581" h="4505801">
                <a:moveTo>
                  <a:pt x="0" y="0"/>
                </a:moveTo>
                <a:lnTo>
                  <a:pt x="6215582" y="0"/>
                </a:lnTo>
                <a:lnTo>
                  <a:pt x="6215582" y="4505801"/>
                </a:lnTo>
                <a:lnTo>
                  <a:pt x="0" y="4505801"/>
                </a:lnTo>
                <a:lnTo>
                  <a:pt x="0" y="0"/>
                </a:lnTo>
                <a:close/>
              </a:path>
            </a:pathLst>
          </a:custGeom>
          <a:blipFill>
            <a:blip r:embed="rId4"/>
            <a:stretch>
              <a:fillRect l="-1653" t="-4069" r="-6071" b="-5896"/>
            </a:stretch>
          </a:blipFill>
        </p:spPr>
      </p:sp>
      <p:sp>
        <p:nvSpPr>
          <p:cNvPr id="6" name="Freeform 6"/>
          <p:cNvSpPr/>
          <p:nvPr/>
        </p:nvSpPr>
        <p:spPr>
          <a:xfrm>
            <a:off x="1732670" y="3194875"/>
            <a:ext cx="5800696" cy="4505801"/>
          </a:xfrm>
          <a:custGeom>
            <a:avLst/>
            <a:gdLst/>
            <a:ahLst/>
            <a:cxnLst/>
            <a:rect l="l" t="t" r="r" b="b"/>
            <a:pathLst>
              <a:path w="5800696" h="4505801">
                <a:moveTo>
                  <a:pt x="0" y="0"/>
                </a:moveTo>
                <a:lnTo>
                  <a:pt x="5800697" y="0"/>
                </a:lnTo>
                <a:lnTo>
                  <a:pt x="5800697" y="4505801"/>
                </a:lnTo>
                <a:lnTo>
                  <a:pt x="0" y="4505801"/>
                </a:lnTo>
                <a:lnTo>
                  <a:pt x="0" y="0"/>
                </a:lnTo>
                <a:close/>
              </a:path>
            </a:pathLst>
          </a:custGeom>
          <a:blipFill>
            <a:blip r:embed="rId5"/>
            <a:stretch>
              <a:fillRect l="-7193" t="-707" r="-2548"/>
            </a:stretch>
          </a:blipFill>
        </p:spPr>
      </p:sp>
      <p:sp>
        <p:nvSpPr>
          <p:cNvPr id="7" name="TextBox 7"/>
          <p:cNvSpPr txBox="1"/>
          <p:nvPr/>
        </p:nvSpPr>
        <p:spPr>
          <a:xfrm>
            <a:off x="1028700" y="654592"/>
            <a:ext cx="12091679" cy="2193497"/>
          </a:xfrm>
          <a:prstGeom prst="rect">
            <a:avLst/>
          </a:prstGeom>
        </p:spPr>
        <p:txBody>
          <a:bodyPr lIns="0" tIns="0" rIns="0" bIns="0" rtlCol="0" anchor="t">
            <a:spAutoFit/>
          </a:bodyPr>
          <a:lstStyle/>
          <a:p>
            <a:pPr marL="0" lvl="0" indent="0" algn="l">
              <a:lnSpc>
                <a:spcPts val="8550"/>
              </a:lnSpc>
              <a:spcBef>
                <a:spcPct val="0"/>
              </a:spcBef>
            </a:pPr>
            <a:r>
              <a:rPr lang="en-US" sz="7917" b="1" spc="-467">
                <a:solidFill>
                  <a:srgbClr val="185079"/>
                </a:solidFill>
                <a:latin typeface="Open Sauce Semi-Bold"/>
                <a:ea typeface="Open Sauce Semi-Bold"/>
                <a:cs typeface="Open Sauce Semi-Bold"/>
                <a:sym typeface="Open Sauce Semi-Bold"/>
              </a:rPr>
              <a:t>EXPLORATORY DATA</a:t>
            </a:r>
            <a:r>
              <a:rPr lang="en-US" sz="7917" b="1" u="none" strike="noStrike" spc="-467">
                <a:solidFill>
                  <a:srgbClr val="185079"/>
                </a:solidFill>
                <a:latin typeface="Open Sauce Semi-Bold"/>
                <a:ea typeface="Open Sauce Semi-Bold"/>
                <a:cs typeface="Open Sauce Semi-Bold"/>
                <a:sym typeface="Open Sauce Semi-Bold"/>
              </a:rPr>
              <a:t> ANALYSIS</a:t>
            </a:r>
          </a:p>
        </p:txBody>
      </p:sp>
      <p:sp>
        <p:nvSpPr>
          <p:cNvPr id="8" name="TextBox 8"/>
          <p:cNvSpPr txBox="1"/>
          <p:nvPr/>
        </p:nvSpPr>
        <p:spPr>
          <a:xfrm>
            <a:off x="9875219" y="8085561"/>
            <a:ext cx="8047816" cy="897431"/>
          </a:xfrm>
          <a:prstGeom prst="rect">
            <a:avLst/>
          </a:prstGeom>
        </p:spPr>
        <p:txBody>
          <a:bodyPr lIns="0" tIns="0" rIns="0" bIns="0" rtlCol="0" anchor="t">
            <a:spAutoFit/>
          </a:bodyPr>
          <a:lstStyle/>
          <a:p>
            <a:pPr algn="just">
              <a:lnSpc>
                <a:spcPts val="2368"/>
              </a:lnSpc>
            </a:pPr>
            <a:r>
              <a:rPr lang="en-US" sz="2299" b="1">
                <a:solidFill>
                  <a:srgbClr val="185079"/>
                </a:solidFill>
                <a:latin typeface="Open Sauce Bold"/>
                <a:ea typeface="Open Sauce Bold"/>
                <a:cs typeface="Open Sauce Bold"/>
                <a:sym typeface="Open Sauce Bold"/>
              </a:rPr>
              <a:t>Customer retention is high, but reducing churn can increase profit.</a:t>
            </a:r>
          </a:p>
          <a:p>
            <a:pPr algn="just">
              <a:lnSpc>
                <a:spcPts val="2368"/>
              </a:lnSpc>
              <a:spcBef>
                <a:spcPct val="0"/>
              </a:spcBef>
            </a:pPr>
            <a:endParaRPr lang="en-US" sz="2299" b="1">
              <a:solidFill>
                <a:srgbClr val="185079"/>
              </a:solidFill>
              <a:latin typeface="Open Sauce Bold"/>
              <a:ea typeface="Open Sauce Bold"/>
              <a:cs typeface="Open Sauce Bold"/>
              <a:sym typeface="Open Sauce Bold"/>
            </a:endParaRPr>
          </a:p>
        </p:txBody>
      </p:sp>
      <p:sp>
        <p:nvSpPr>
          <p:cNvPr id="9" name="TextBox 9"/>
          <p:cNvSpPr txBox="1"/>
          <p:nvPr/>
        </p:nvSpPr>
        <p:spPr>
          <a:xfrm>
            <a:off x="1453263" y="8085561"/>
            <a:ext cx="7690737" cy="602091"/>
          </a:xfrm>
          <a:prstGeom prst="rect">
            <a:avLst/>
          </a:prstGeom>
        </p:spPr>
        <p:txBody>
          <a:bodyPr lIns="0" tIns="0" rIns="0" bIns="0" rtlCol="0" anchor="t">
            <a:spAutoFit/>
          </a:bodyPr>
          <a:lstStyle/>
          <a:p>
            <a:pPr algn="just">
              <a:lnSpc>
                <a:spcPts val="2366"/>
              </a:lnSpc>
            </a:pPr>
            <a:r>
              <a:rPr lang="en-US" sz="2297" b="1">
                <a:solidFill>
                  <a:srgbClr val="185079"/>
                </a:solidFill>
                <a:latin typeface="Open Sauce Bold"/>
                <a:ea typeface="Open Sauce Bold"/>
                <a:cs typeface="Open Sauce Bold"/>
                <a:sym typeface="Open Sauce Bold"/>
              </a:rPr>
              <a:t>Long-term contracts reduce customer churn.</a:t>
            </a:r>
          </a:p>
          <a:p>
            <a:pPr algn="just">
              <a:lnSpc>
                <a:spcPts val="2366"/>
              </a:lnSpc>
              <a:spcBef>
                <a:spcPct val="0"/>
              </a:spcBef>
            </a:pPr>
            <a:endParaRPr lang="en-US" sz="2297" b="1">
              <a:solidFill>
                <a:srgbClr val="185079"/>
              </a:solidFill>
              <a:latin typeface="Open Sauce Bold"/>
              <a:ea typeface="Open Sauce Bold"/>
              <a:cs typeface="Open Sauce Bold"/>
              <a:sym typeface="Open Sauce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Freeform 3"/>
          <p:cNvSpPr/>
          <p:nvPr/>
        </p:nvSpPr>
        <p:spPr>
          <a:xfrm>
            <a:off x="-8153289" y="493643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4" name="Freeform 4"/>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Freeform 5"/>
          <p:cNvSpPr/>
          <p:nvPr/>
        </p:nvSpPr>
        <p:spPr>
          <a:xfrm>
            <a:off x="10394299" y="3503851"/>
            <a:ext cx="5471489" cy="3836299"/>
          </a:xfrm>
          <a:custGeom>
            <a:avLst/>
            <a:gdLst/>
            <a:ahLst/>
            <a:cxnLst/>
            <a:rect l="l" t="t" r="r" b="b"/>
            <a:pathLst>
              <a:path w="5471489" h="3836299">
                <a:moveTo>
                  <a:pt x="0" y="0"/>
                </a:moveTo>
                <a:lnTo>
                  <a:pt x="5471489" y="0"/>
                </a:lnTo>
                <a:lnTo>
                  <a:pt x="5471489" y="3836299"/>
                </a:lnTo>
                <a:lnTo>
                  <a:pt x="0" y="3836299"/>
                </a:lnTo>
                <a:lnTo>
                  <a:pt x="0" y="0"/>
                </a:lnTo>
                <a:close/>
              </a:path>
            </a:pathLst>
          </a:custGeom>
          <a:blipFill>
            <a:blip r:embed="rId4"/>
            <a:stretch>
              <a:fillRect l="-3692" r="-2201"/>
            </a:stretch>
          </a:blipFill>
        </p:spPr>
      </p:sp>
      <p:sp>
        <p:nvSpPr>
          <p:cNvPr id="6" name="Freeform 6"/>
          <p:cNvSpPr/>
          <p:nvPr/>
        </p:nvSpPr>
        <p:spPr>
          <a:xfrm>
            <a:off x="2031827" y="3503851"/>
            <a:ext cx="5734674" cy="3836299"/>
          </a:xfrm>
          <a:custGeom>
            <a:avLst/>
            <a:gdLst/>
            <a:ahLst/>
            <a:cxnLst/>
            <a:rect l="l" t="t" r="r" b="b"/>
            <a:pathLst>
              <a:path w="5734674" h="3836299">
                <a:moveTo>
                  <a:pt x="0" y="0"/>
                </a:moveTo>
                <a:lnTo>
                  <a:pt x="5734673" y="0"/>
                </a:lnTo>
                <a:lnTo>
                  <a:pt x="5734673" y="3836299"/>
                </a:lnTo>
                <a:lnTo>
                  <a:pt x="0" y="3836299"/>
                </a:lnTo>
                <a:lnTo>
                  <a:pt x="0" y="0"/>
                </a:lnTo>
                <a:close/>
              </a:path>
            </a:pathLst>
          </a:custGeom>
          <a:blipFill>
            <a:blip r:embed="rId5"/>
            <a:stretch>
              <a:fillRect/>
            </a:stretch>
          </a:blipFill>
        </p:spPr>
      </p:sp>
      <p:sp>
        <p:nvSpPr>
          <p:cNvPr id="7" name="TextBox 7"/>
          <p:cNvSpPr txBox="1"/>
          <p:nvPr/>
        </p:nvSpPr>
        <p:spPr>
          <a:xfrm>
            <a:off x="1028700" y="654592"/>
            <a:ext cx="9959435" cy="2193497"/>
          </a:xfrm>
          <a:prstGeom prst="rect">
            <a:avLst/>
          </a:prstGeom>
        </p:spPr>
        <p:txBody>
          <a:bodyPr lIns="0" tIns="0" rIns="0" bIns="0" rtlCol="0" anchor="t">
            <a:spAutoFit/>
          </a:bodyPr>
          <a:lstStyle/>
          <a:p>
            <a:pPr marL="0" lvl="0" indent="0" algn="l">
              <a:lnSpc>
                <a:spcPts val="8550"/>
              </a:lnSpc>
              <a:spcBef>
                <a:spcPct val="0"/>
              </a:spcBef>
            </a:pPr>
            <a:r>
              <a:rPr lang="en-US" sz="7917" b="1" spc="-467">
                <a:solidFill>
                  <a:srgbClr val="185079"/>
                </a:solidFill>
                <a:latin typeface="Open Sauce Semi-Bold"/>
                <a:ea typeface="Open Sauce Semi-Bold"/>
                <a:cs typeface="Open Sauce Semi-Bold"/>
                <a:sym typeface="Open Sauce Semi-Bold"/>
              </a:rPr>
              <a:t>EXPLORATORY DATA</a:t>
            </a:r>
            <a:r>
              <a:rPr lang="en-US" sz="7917" b="1" u="none" strike="noStrike" spc="-467">
                <a:solidFill>
                  <a:srgbClr val="185079"/>
                </a:solidFill>
                <a:latin typeface="Open Sauce Semi-Bold"/>
                <a:ea typeface="Open Sauce Semi-Bold"/>
                <a:cs typeface="Open Sauce Semi-Bold"/>
                <a:sym typeface="Open Sauce Semi-Bold"/>
              </a:rPr>
              <a:t> ANALYSIS</a:t>
            </a:r>
          </a:p>
        </p:txBody>
      </p:sp>
      <p:sp>
        <p:nvSpPr>
          <p:cNvPr id="8" name="TextBox 8"/>
          <p:cNvSpPr txBox="1"/>
          <p:nvPr/>
        </p:nvSpPr>
        <p:spPr>
          <a:xfrm>
            <a:off x="10394299" y="8035475"/>
            <a:ext cx="7674025" cy="853979"/>
          </a:xfrm>
          <a:prstGeom prst="rect">
            <a:avLst/>
          </a:prstGeom>
        </p:spPr>
        <p:txBody>
          <a:bodyPr lIns="0" tIns="0" rIns="0" bIns="0" rtlCol="0" anchor="t">
            <a:spAutoFit/>
          </a:bodyPr>
          <a:lstStyle/>
          <a:p>
            <a:pPr algn="just">
              <a:lnSpc>
                <a:spcPts val="2258"/>
              </a:lnSpc>
            </a:pPr>
            <a:r>
              <a:rPr lang="en-US" sz="2192" b="1">
                <a:solidFill>
                  <a:srgbClr val="185079"/>
                </a:solidFill>
                <a:latin typeface="Open Sauce Bold"/>
                <a:ea typeface="Open Sauce Bold"/>
                <a:cs typeface="Open Sauce Bold"/>
                <a:sym typeface="Open Sauce Bold"/>
              </a:rPr>
              <a:t>Customers using fiber optic service are more likely to churn.</a:t>
            </a:r>
          </a:p>
          <a:p>
            <a:pPr algn="just">
              <a:lnSpc>
                <a:spcPts val="2258"/>
              </a:lnSpc>
              <a:spcBef>
                <a:spcPct val="0"/>
              </a:spcBef>
            </a:pPr>
            <a:endParaRPr lang="en-US" sz="2192" b="1">
              <a:solidFill>
                <a:srgbClr val="185079"/>
              </a:solidFill>
              <a:latin typeface="Open Sauce Bold"/>
              <a:ea typeface="Open Sauce Bold"/>
              <a:cs typeface="Open Sauce Bold"/>
              <a:sym typeface="Open Sauce Bold"/>
            </a:endParaRPr>
          </a:p>
        </p:txBody>
      </p:sp>
      <p:sp>
        <p:nvSpPr>
          <p:cNvPr id="9" name="TextBox 9"/>
          <p:cNvSpPr txBox="1"/>
          <p:nvPr/>
        </p:nvSpPr>
        <p:spPr>
          <a:xfrm>
            <a:off x="2031827" y="8035475"/>
            <a:ext cx="7674025" cy="853979"/>
          </a:xfrm>
          <a:prstGeom prst="rect">
            <a:avLst/>
          </a:prstGeom>
        </p:spPr>
        <p:txBody>
          <a:bodyPr lIns="0" tIns="0" rIns="0" bIns="0" rtlCol="0" anchor="t">
            <a:spAutoFit/>
          </a:bodyPr>
          <a:lstStyle/>
          <a:p>
            <a:pPr algn="just">
              <a:lnSpc>
                <a:spcPts val="2258"/>
              </a:lnSpc>
            </a:pPr>
            <a:r>
              <a:rPr lang="en-US" sz="2192" b="1">
                <a:solidFill>
                  <a:srgbClr val="185079"/>
                </a:solidFill>
                <a:latin typeface="Open Sauce Bold"/>
                <a:ea typeface="Open Sauce Bold"/>
                <a:cs typeface="Open Sauce Bold"/>
                <a:sym typeface="Open Sauce Bold"/>
              </a:rPr>
              <a:t>Customers with higher monthly charges are more likely to churn.</a:t>
            </a:r>
          </a:p>
          <a:p>
            <a:pPr algn="just">
              <a:lnSpc>
                <a:spcPts val="2258"/>
              </a:lnSpc>
              <a:spcBef>
                <a:spcPct val="0"/>
              </a:spcBef>
            </a:pPr>
            <a:endParaRPr lang="en-US" sz="2192" b="1">
              <a:solidFill>
                <a:srgbClr val="185079"/>
              </a:solidFill>
              <a:latin typeface="Open Sauce Bold"/>
              <a:ea typeface="Open Sauce Bold"/>
              <a:cs typeface="Open Sauce Bold"/>
              <a:sym typeface="Open Sauce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TextBox 3"/>
          <p:cNvSpPr txBox="1"/>
          <p:nvPr/>
        </p:nvSpPr>
        <p:spPr>
          <a:xfrm>
            <a:off x="366537" y="3100243"/>
            <a:ext cx="6275131" cy="3452296"/>
          </a:xfrm>
          <a:prstGeom prst="rect">
            <a:avLst/>
          </a:prstGeom>
        </p:spPr>
        <p:txBody>
          <a:bodyPr lIns="0" tIns="0" rIns="0" bIns="0" rtlCol="0" anchor="t">
            <a:spAutoFit/>
          </a:bodyPr>
          <a:lstStyle/>
          <a:p>
            <a:pPr algn="l">
              <a:lnSpc>
                <a:spcPts val="2585"/>
              </a:lnSpc>
            </a:pPr>
            <a:r>
              <a:rPr lang="en-US" sz="1847" b="1">
                <a:solidFill>
                  <a:srgbClr val="185079"/>
                </a:solidFill>
                <a:latin typeface="Open Sauce Bold"/>
                <a:ea typeface="Open Sauce Bold"/>
                <a:cs typeface="Open Sauce Bold"/>
                <a:sym typeface="Open Sauce Bold"/>
              </a:rPr>
              <a:t>Logistic Regression:</a:t>
            </a:r>
          </a:p>
          <a:p>
            <a:pPr algn="l">
              <a:lnSpc>
                <a:spcPts val="2462"/>
              </a:lnSpc>
            </a:pPr>
            <a:r>
              <a:rPr lang="en-US" sz="1759">
                <a:solidFill>
                  <a:srgbClr val="185079"/>
                </a:solidFill>
                <a:latin typeface="Open Sauce"/>
                <a:ea typeface="Open Sauce"/>
                <a:cs typeface="Open Sauce"/>
                <a:sym typeface="Open Sauce"/>
              </a:rPr>
              <a:t>Logistic Regression is a supervised machine learning algorithm used for classification problems.</a:t>
            </a:r>
          </a:p>
          <a:p>
            <a:pPr algn="l">
              <a:lnSpc>
                <a:spcPts val="2462"/>
              </a:lnSpc>
            </a:pPr>
            <a:r>
              <a:rPr lang="en-US" sz="1759" b="1">
                <a:solidFill>
                  <a:srgbClr val="185079"/>
                </a:solidFill>
                <a:latin typeface="Open Sauce Bold"/>
                <a:ea typeface="Open Sauce Bold"/>
                <a:cs typeface="Open Sauce Bold"/>
                <a:sym typeface="Open Sauce Bold"/>
              </a:rPr>
              <a:t>Logistic Regression helps:</a:t>
            </a:r>
          </a:p>
          <a:p>
            <a:pPr algn="l">
              <a:lnSpc>
                <a:spcPts val="2462"/>
              </a:lnSpc>
            </a:pPr>
            <a:r>
              <a:rPr lang="en-US" sz="1759">
                <a:solidFill>
                  <a:srgbClr val="185079"/>
                </a:solidFill>
                <a:latin typeface="Open Sauce"/>
                <a:ea typeface="Open Sauce"/>
                <a:cs typeface="Open Sauce"/>
                <a:sym typeface="Open Sauce"/>
              </a:rPr>
              <a:t>Predict customers likely to churn</a:t>
            </a:r>
          </a:p>
          <a:p>
            <a:pPr algn="l">
              <a:lnSpc>
                <a:spcPts val="2462"/>
              </a:lnSpc>
            </a:pPr>
            <a:r>
              <a:rPr lang="en-US" sz="1759">
                <a:solidFill>
                  <a:srgbClr val="185079"/>
                </a:solidFill>
                <a:latin typeface="Open Sauce"/>
                <a:ea typeface="Open Sauce"/>
                <a:cs typeface="Open Sauce"/>
                <a:sym typeface="Open Sauce"/>
              </a:rPr>
              <a:t>Identify important churn factors</a:t>
            </a:r>
          </a:p>
          <a:p>
            <a:pPr algn="l">
              <a:lnSpc>
                <a:spcPts val="2462"/>
              </a:lnSpc>
            </a:pPr>
            <a:r>
              <a:rPr lang="en-US" sz="1759">
                <a:solidFill>
                  <a:srgbClr val="185079"/>
                </a:solidFill>
                <a:latin typeface="Open Sauce"/>
                <a:ea typeface="Open Sauce"/>
                <a:cs typeface="Open Sauce"/>
                <a:sym typeface="Open Sauce"/>
              </a:rPr>
              <a:t>Support customer retention strategies</a:t>
            </a:r>
          </a:p>
          <a:p>
            <a:pPr algn="l">
              <a:lnSpc>
                <a:spcPts val="3022"/>
              </a:lnSpc>
            </a:pPr>
            <a:r>
              <a:rPr lang="en-US" sz="2159" b="1">
                <a:solidFill>
                  <a:srgbClr val="185079"/>
                </a:solidFill>
                <a:latin typeface="Open Sauce Bold"/>
                <a:ea typeface="Open Sauce Bold"/>
                <a:cs typeface="Open Sauce Bold"/>
                <a:sym typeface="Open Sauce Bold"/>
              </a:rPr>
              <a:t>Logistic Regression Accuracy: 0.7874911158493249</a:t>
            </a:r>
          </a:p>
          <a:p>
            <a:pPr algn="l">
              <a:lnSpc>
                <a:spcPts val="2216"/>
              </a:lnSpc>
            </a:pPr>
            <a:endParaRPr lang="en-US" sz="2159" b="1">
              <a:solidFill>
                <a:srgbClr val="185079"/>
              </a:solidFill>
              <a:latin typeface="Open Sauce Bold"/>
              <a:ea typeface="Open Sauce Bold"/>
              <a:cs typeface="Open Sauce Bold"/>
              <a:sym typeface="Open Sauce Bold"/>
            </a:endParaRPr>
          </a:p>
          <a:p>
            <a:pPr marL="0" lvl="0" indent="0" algn="l">
              <a:lnSpc>
                <a:spcPts val="2216"/>
              </a:lnSpc>
              <a:spcBef>
                <a:spcPct val="0"/>
              </a:spcBef>
            </a:pPr>
            <a:endParaRPr lang="en-US" sz="2159" b="1">
              <a:solidFill>
                <a:srgbClr val="185079"/>
              </a:solidFill>
              <a:latin typeface="Open Sauce Bold"/>
              <a:ea typeface="Open Sauce Bold"/>
              <a:cs typeface="Open Sauce Bold"/>
              <a:sym typeface="Open Sauce Bold"/>
            </a:endParaRPr>
          </a:p>
        </p:txBody>
      </p:sp>
      <p:sp>
        <p:nvSpPr>
          <p:cNvPr id="4" name="Freeform 4"/>
          <p:cNvSpPr/>
          <p:nvPr/>
        </p:nvSpPr>
        <p:spPr>
          <a:xfrm>
            <a:off x="-8365760" y="5848932"/>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5" name="Freeform 5"/>
          <p:cNvSpPr/>
          <p:nvPr/>
        </p:nvSpPr>
        <p:spPr>
          <a:xfrm>
            <a:off x="11275201" y="-772630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6" name="Freeform 6"/>
          <p:cNvSpPr/>
          <p:nvPr/>
        </p:nvSpPr>
        <p:spPr>
          <a:xfrm>
            <a:off x="12318874" y="1344039"/>
            <a:ext cx="5532000" cy="4105973"/>
          </a:xfrm>
          <a:custGeom>
            <a:avLst/>
            <a:gdLst/>
            <a:ahLst/>
            <a:cxnLst/>
            <a:rect l="l" t="t" r="r" b="b"/>
            <a:pathLst>
              <a:path w="5532000" h="4105973">
                <a:moveTo>
                  <a:pt x="0" y="0"/>
                </a:moveTo>
                <a:lnTo>
                  <a:pt x="5532000" y="0"/>
                </a:lnTo>
                <a:lnTo>
                  <a:pt x="5532000" y="4105973"/>
                </a:lnTo>
                <a:lnTo>
                  <a:pt x="0" y="4105973"/>
                </a:lnTo>
                <a:lnTo>
                  <a:pt x="0" y="0"/>
                </a:lnTo>
                <a:close/>
              </a:path>
            </a:pathLst>
          </a:custGeom>
          <a:blipFill>
            <a:blip r:embed="rId4"/>
            <a:stretch>
              <a:fillRect/>
            </a:stretch>
          </a:blipFill>
        </p:spPr>
      </p:sp>
      <p:sp>
        <p:nvSpPr>
          <p:cNvPr id="7" name="Freeform 7"/>
          <p:cNvSpPr/>
          <p:nvPr/>
        </p:nvSpPr>
        <p:spPr>
          <a:xfrm>
            <a:off x="12318874" y="5848932"/>
            <a:ext cx="5532000" cy="4048723"/>
          </a:xfrm>
          <a:custGeom>
            <a:avLst/>
            <a:gdLst/>
            <a:ahLst/>
            <a:cxnLst/>
            <a:rect l="l" t="t" r="r" b="b"/>
            <a:pathLst>
              <a:path w="5532000" h="4048723">
                <a:moveTo>
                  <a:pt x="0" y="0"/>
                </a:moveTo>
                <a:lnTo>
                  <a:pt x="5532000" y="0"/>
                </a:lnTo>
                <a:lnTo>
                  <a:pt x="5532000" y="4048722"/>
                </a:lnTo>
                <a:lnTo>
                  <a:pt x="0" y="4048722"/>
                </a:lnTo>
                <a:lnTo>
                  <a:pt x="0" y="0"/>
                </a:lnTo>
                <a:close/>
              </a:path>
            </a:pathLst>
          </a:custGeom>
          <a:blipFill>
            <a:blip r:embed="rId5"/>
            <a:stretch>
              <a:fillRect l="-10614"/>
            </a:stretch>
          </a:blipFill>
        </p:spPr>
      </p:sp>
      <p:sp>
        <p:nvSpPr>
          <p:cNvPr id="8" name="TextBox 8"/>
          <p:cNvSpPr txBox="1"/>
          <p:nvPr/>
        </p:nvSpPr>
        <p:spPr>
          <a:xfrm>
            <a:off x="366537" y="511974"/>
            <a:ext cx="9476427" cy="2193497"/>
          </a:xfrm>
          <a:prstGeom prst="rect">
            <a:avLst/>
          </a:prstGeom>
        </p:spPr>
        <p:txBody>
          <a:bodyPr lIns="0" tIns="0" rIns="0" bIns="0" rtlCol="0" anchor="t">
            <a:spAutoFit/>
          </a:bodyPr>
          <a:lstStyle/>
          <a:p>
            <a:pPr marL="0" lvl="0" indent="0" algn="l">
              <a:lnSpc>
                <a:spcPts val="8550"/>
              </a:lnSpc>
              <a:spcBef>
                <a:spcPct val="0"/>
              </a:spcBef>
            </a:pPr>
            <a:r>
              <a:rPr lang="en-US" sz="7917" b="1" spc="-467">
                <a:solidFill>
                  <a:srgbClr val="185079"/>
                </a:solidFill>
                <a:latin typeface="Open Sauce Semi-Bold"/>
                <a:ea typeface="Open Sauce Semi-Bold"/>
                <a:cs typeface="Open Sauce Semi-Bold"/>
                <a:sym typeface="Open Sauce Semi-Bold"/>
              </a:rPr>
              <a:t>MACHINE LEARNING MODELS </a:t>
            </a:r>
            <a:r>
              <a:rPr lang="en-US" sz="7917" b="1" u="none" strike="noStrike" spc="-467">
                <a:solidFill>
                  <a:srgbClr val="185079"/>
                </a:solidFill>
                <a:latin typeface="Open Sauce Semi-Bold"/>
                <a:ea typeface="Open Sauce Semi-Bold"/>
                <a:cs typeface="Open Sauce Semi-Bold"/>
                <a:sym typeface="Open Sauce Semi-Bold"/>
              </a:rPr>
              <a:t>&amp; RESULTS</a:t>
            </a:r>
          </a:p>
        </p:txBody>
      </p:sp>
      <p:sp>
        <p:nvSpPr>
          <p:cNvPr id="9" name="TextBox 9"/>
          <p:cNvSpPr txBox="1"/>
          <p:nvPr/>
        </p:nvSpPr>
        <p:spPr>
          <a:xfrm>
            <a:off x="6275731" y="3100243"/>
            <a:ext cx="7134466" cy="3896605"/>
          </a:xfrm>
          <a:prstGeom prst="rect">
            <a:avLst/>
          </a:prstGeom>
        </p:spPr>
        <p:txBody>
          <a:bodyPr lIns="0" tIns="0" rIns="0" bIns="0" rtlCol="0" anchor="t">
            <a:spAutoFit/>
          </a:bodyPr>
          <a:lstStyle/>
          <a:p>
            <a:pPr algn="l">
              <a:lnSpc>
                <a:spcPts val="2590"/>
              </a:lnSpc>
            </a:pPr>
            <a:r>
              <a:rPr lang="en-US" sz="1850" b="1">
                <a:solidFill>
                  <a:srgbClr val="185079"/>
                </a:solidFill>
                <a:latin typeface="Open Sauce Bold"/>
                <a:ea typeface="Open Sauce Bold"/>
                <a:cs typeface="Open Sauce Bold"/>
                <a:sym typeface="Open Sauce Bold"/>
              </a:rPr>
              <a:t>Random Forest:</a:t>
            </a:r>
          </a:p>
          <a:p>
            <a:pPr algn="l">
              <a:lnSpc>
                <a:spcPts val="2520"/>
              </a:lnSpc>
            </a:pPr>
            <a:r>
              <a:rPr lang="en-US" sz="1800">
                <a:solidFill>
                  <a:srgbClr val="185079"/>
                </a:solidFill>
                <a:latin typeface="Open Sauce"/>
                <a:ea typeface="Open Sauce"/>
                <a:cs typeface="Open Sauce"/>
                <a:sym typeface="Open Sauce"/>
              </a:rPr>
              <a:t>Random Forest is a supervised machine learning </a:t>
            </a:r>
          </a:p>
          <a:p>
            <a:pPr algn="l">
              <a:lnSpc>
                <a:spcPts val="2520"/>
              </a:lnSpc>
            </a:pPr>
            <a:r>
              <a:rPr lang="en-US" sz="1800">
                <a:solidFill>
                  <a:srgbClr val="185079"/>
                </a:solidFill>
                <a:latin typeface="Open Sauce"/>
                <a:ea typeface="Open Sauce"/>
                <a:cs typeface="Open Sauce"/>
                <a:sym typeface="Open Sauce"/>
              </a:rPr>
              <a:t>algorithm used for both classification and regression </a:t>
            </a:r>
          </a:p>
          <a:p>
            <a:pPr algn="l">
              <a:lnSpc>
                <a:spcPts val="2520"/>
              </a:lnSpc>
            </a:pPr>
            <a:r>
              <a:rPr lang="en-US" sz="1800">
                <a:solidFill>
                  <a:srgbClr val="185079"/>
                </a:solidFill>
                <a:latin typeface="Open Sauce"/>
                <a:ea typeface="Open Sauce"/>
                <a:cs typeface="Open Sauce"/>
                <a:sym typeface="Open Sauce"/>
              </a:rPr>
              <a:t>tasks.</a:t>
            </a:r>
          </a:p>
          <a:p>
            <a:pPr algn="l">
              <a:lnSpc>
                <a:spcPts val="2520"/>
              </a:lnSpc>
            </a:pPr>
            <a:r>
              <a:rPr lang="en-US" sz="1800" b="1">
                <a:solidFill>
                  <a:srgbClr val="185079"/>
                </a:solidFill>
                <a:latin typeface="Open Sauce Bold"/>
                <a:ea typeface="Open Sauce Bold"/>
                <a:cs typeface="Open Sauce Bold"/>
                <a:sym typeface="Open Sauce Bold"/>
              </a:rPr>
              <a:t>Random Forest helps:</a:t>
            </a:r>
          </a:p>
          <a:p>
            <a:pPr algn="l">
              <a:lnSpc>
                <a:spcPts val="2520"/>
              </a:lnSpc>
            </a:pPr>
            <a:r>
              <a:rPr lang="en-US" sz="1800">
                <a:solidFill>
                  <a:srgbClr val="185079"/>
                </a:solidFill>
                <a:latin typeface="Open Sauce"/>
                <a:ea typeface="Open Sauce"/>
                <a:cs typeface="Open Sauce"/>
                <a:sym typeface="Open Sauce"/>
              </a:rPr>
              <a:t>Predict customer churn accurately</a:t>
            </a:r>
          </a:p>
          <a:p>
            <a:pPr algn="l">
              <a:lnSpc>
                <a:spcPts val="2520"/>
              </a:lnSpc>
            </a:pPr>
            <a:r>
              <a:rPr lang="en-US" sz="1800">
                <a:solidFill>
                  <a:srgbClr val="185079"/>
                </a:solidFill>
                <a:latin typeface="Open Sauce"/>
                <a:ea typeface="Open Sauce"/>
                <a:cs typeface="Open Sauce"/>
                <a:sym typeface="Open Sauce"/>
              </a:rPr>
              <a:t>Find important factors affecting churn</a:t>
            </a:r>
          </a:p>
          <a:p>
            <a:pPr algn="l">
              <a:lnSpc>
                <a:spcPts val="2520"/>
              </a:lnSpc>
            </a:pPr>
            <a:r>
              <a:rPr lang="en-US" sz="1800">
                <a:solidFill>
                  <a:srgbClr val="185079"/>
                </a:solidFill>
                <a:latin typeface="Open Sauce"/>
                <a:ea typeface="Open Sauce"/>
                <a:cs typeface="Open Sauce"/>
                <a:sym typeface="Open Sauce"/>
              </a:rPr>
              <a:t>Improve business decision-making</a:t>
            </a:r>
          </a:p>
          <a:p>
            <a:pPr algn="l">
              <a:lnSpc>
                <a:spcPts val="3024"/>
              </a:lnSpc>
            </a:pPr>
            <a:r>
              <a:rPr lang="en-US" sz="2160" b="1">
                <a:solidFill>
                  <a:srgbClr val="185079"/>
                </a:solidFill>
                <a:latin typeface="Open Sauce Bold"/>
                <a:ea typeface="Open Sauce Bold"/>
                <a:cs typeface="Open Sauce Bold"/>
                <a:sym typeface="Open Sauce Bold"/>
              </a:rPr>
              <a:t>Random Forest Accuracy:</a:t>
            </a:r>
          </a:p>
          <a:p>
            <a:pPr algn="l">
              <a:lnSpc>
                <a:spcPts val="3024"/>
              </a:lnSpc>
            </a:pPr>
            <a:r>
              <a:rPr lang="en-US" sz="2160" b="1">
                <a:solidFill>
                  <a:srgbClr val="185079"/>
                </a:solidFill>
                <a:latin typeface="Open Sauce Bold"/>
                <a:ea typeface="Open Sauce Bold"/>
                <a:cs typeface="Open Sauce Bold"/>
                <a:sym typeface="Open Sauce Bold"/>
              </a:rPr>
              <a:t> 0.7853589196872779</a:t>
            </a:r>
          </a:p>
          <a:p>
            <a:pPr algn="l">
              <a:lnSpc>
                <a:spcPts val="2520"/>
              </a:lnSpc>
            </a:pPr>
            <a:endParaRPr lang="en-US" sz="2160" b="1">
              <a:solidFill>
                <a:srgbClr val="185079"/>
              </a:solidFill>
              <a:latin typeface="Open Sauce Bold"/>
              <a:ea typeface="Open Sauce Bold"/>
              <a:cs typeface="Open Sauce Bold"/>
              <a:sym typeface="Open Sauce Bold"/>
            </a:endParaRPr>
          </a:p>
          <a:p>
            <a:pPr marL="0" lvl="0" indent="0" algn="l">
              <a:lnSpc>
                <a:spcPts val="2520"/>
              </a:lnSpc>
              <a:spcBef>
                <a:spcPct val="0"/>
              </a:spcBef>
            </a:pPr>
            <a:endParaRPr lang="en-US" sz="2160" b="1">
              <a:solidFill>
                <a:srgbClr val="185079"/>
              </a:solidFill>
              <a:latin typeface="Open Sauce Bold"/>
              <a:ea typeface="Open Sauce Bold"/>
              <a:cs typeface="Open Sauce Bold"/>
              <a:sym typeface="Open Sauce Bold"/>
            </a:endParaRPr>
          </a:p>
        </p:txBody>
      </p:sp>
      <p:sp>
        <p:nvSpPr>
          <p:cNvPr id="10" name="TextBox 10"/>
          <p:cNvSpPr txBox="1"/>
          <p:nvPr/>
        </p:nvSpPr>
        <p:spPr>
          <a:xfrm>
            <a:off x="419564" y="6365616"/>
            <a:ext cx="7134466" cy="3582321"/>
          </a:xfrm>
          <a:prstGeom prst="rect">
            <a:avLst/>
          </a:prstGeom>
        </p:spPr>
        <p:txBody>
          <a:bodyPr lIns="0" tIns="0" rIns="0" bIns="0" rtlCol="0" anchor="t">
            <a:spAutoFit/>
          </a:bodyPr>
          <a:lstStyle/>
          <a:p>
            <a:pPr algn="l">
              <a:lnSpc>
                <a:spcPts val="2590"/>
              </a:lnSpc>
            </a:pPr>
            <a:r>
              <a:rPr lang="en-US" sz="1850" b="1">
                <a:solidFill>
                  <a:srgbClr val="185079"/>
                </a:solidFill>
                <a:latin typeface="Open Sauce Bold"/>
                <a:ea typeface="Open Sauce Bold"/>
                <a:cs typeface="Open Sauce Bold"/>
                <a:sym typeface="Open Sauce Bold"/>
              </a:rPr>
              <a:t>XGBoost:</a:t>
            </a:r>
          </a:p>
          <a:p>
            <a:pPr algn="l">
              <a:lnSpc>
                <a:spcPts val="2520"/>
              </a:lnSpc>
            </a:pPr>
            <a:r>
              <a:rPr lang="en-US" sz="1800">
                <a:solidFill>
                  <a:srgbClr val="185079"/>
                </a:solidFill>
                <a:latin typeface="Open Sauce"/>
                <a:ea typeface="Open Sauce"/>
                <a:cs typeface="Open Sauce"/>
                <a:sym typeface="Open Sauce"/>
              </a:rPr>
              <a:t>XGBoost (Extreme Gradient Boosting) is an advanced machine learning algorithm used for</a:t>
            </a:r>
            <a:r>
              <a:rPr lang="en-US" sz="1800" b="1">
                <a:solidFill>
                  <a:srgbClr val="185079"/>
                </a:solidFill>
                <a:latin typeface="Open Sauce Bold"/>
                <a:ea typeface="Open Sauce Bold"/>
                <a:cs typeface="Open Sauce Bold"/>
                <a:sym typeface="Open Sauce Bold"/>
              </a:rPr>
              <a:t> high-performance</a:t>
            </a:r>
            <a:r>
              <a:rPr lang="en-US" sz="1800">
                <a:solidFill>
                  <a:srgbClr val="185079"/>
                </a:solidFill>
                <a:latin typeface="Open Sauce"/>
                <a:ea typeface="Open Sauce"/>
                <a:cs typeface="Open Sauce"/>
                <a:sym typeface="Open Sauce"/>
              </a:rPr>
              <a:t> prediction tasks.</a:t>
            </a:r>
          </a:p>
          <a:p>
            <a:pPr algn="l">
              <a:lnSpc>
                <a:spcPts val="2520"/>
              </a:lnSpc>
            </a:pPr>
            <a:r>
              <a:rPr lang="en-US" sz="1800" b="1">
                <a:solidFill>
                  <a:srgbClr val="185079"/>
                </a:solidFill>
                <a:latin typeface="Open Sauce Bold"/>
                <a:ea typeface="Open Sauce Bold"/>
                <a:cs typeface="Open Sauce Bold"/>
                <a:sym typeface="Open Sauce Bold"/>
              </a:rPr>
              <a:t>XGBoost helps:</a:t>
            </a:r>
          </a:p>
          <a:p>
            <a:pPr algn="l">
              <a:lnSpc>
                <a:spcPts val="2520"/>
              </a:lnSpc>
            </a:pPr>
            <a:r>
              <a:rPr lang="en-US" sz="1800">
                <a:solidFill>
                  <a:srgbClr val="185079"/>
                </a:solidFill>
                <a:latin typeface="Open Sauce"/>
                <a:ea typeface="Open Sauce"/>
                <a:cs typeface="Open Sauce"/>
                <a:sym typeface="Open Sauce"/>
              </a:rPr>
              <a:t>Predict churn more accurately</a:t>
            </a:r>
          </a:p>
          <a:p>
            <a:pPr algn="l">
              <a:lnSpc>
                <a:spcPts val="2520"/>
              </a:lnSpc>
            </a:pPr>
            <a:r>
              <a:rPr lang="en-US" sz="1800">
                <a:solidFill>
                  <a:srgbClr val="185079"/>
                </a:solidFill>
                <a:latin typeface="Open Sauce"/>
                <a:ea typeface="Open Sauce"/>
                <a:cs typeface="Open Sauce"/>
                <a:sym typeface="Open Sauce"/>
              </a:rPr>
              <a:t>Identify important churn factors</a:t>
            </a:r>
          </a:p>
          <a:p>
            <a:pPr algn="l">
              <a:lnSpc>
                <a:spcPts val="2520"/>
              </a:lnSpc>
            </a:pPr>
            <a:r>
              <a:rPr lang="en-US" sz="1800">
                <a:solidFill>
                  <a:srgbClr val="185079"/>
                </a:solidFill>
                <a:latin typeface="Open Sauce"/>
                <a:ea typeface="Open Sauce"/>
                <a:cs typeface="Open Sauce"/>
                <a:sym typeface="Open Sauce"/>
              </a:rPr>
              <a:t>Improve customer retention strategies</a:t>
            </a:r>
          </a:p>
          <a:p>
            <a:pPr algn="l">
              <a:lnSpc>
                <a:spcPts val="3024"/>
              </a:lnSpc>
            </a:pPr>
            <a:r>
              <a:rPr lang="en-US" sz="2160" b="1">
                <a:solidFill>
                  <a:srgbClr val="185079"/>
                </a:solidFill>
                <a:latin typeface="Open Sauce Bold"/>
                <a:ea typeface="Open Sauce Bold"/>
                <a:cs typeface="Open Sauce Bold"/>
                <a:sym typeface="Open Sauce Bold"/>
              </a:rPr>
              <a:t>XGBoost Accuracy: </a:t>
            </a:r>
          </a:p>
          <a:p>
            <a:pPr algn="l">
              <a:lnSpc>
                <a:spcPts val="3024"/>
              </a:lnSpc>
            </a:pPr>
            <a:r>
              <a:rPr lang="en-US" sz="2160" b="1">
                <a:solidFill>
                  <a:srgbClr val="185079"/>
                </a:solidFill>
                <a:latin typeface="Open Sauce Bold"/>
                <a:ea typeface="Open Sauce Bold"/>
                <a:cs typeface="Open Sauce Bold"/>
                <a:sym typeface="Open Sauce Bold"/>
              </a:rPr>
              <a:t>0.7739872068230277</a:t>
            </a:r>
          </a:p>
          <a:p>
            <a:pPr algn="l">
              <a:lnSpc>
                <a:spcPts val="2520"/>
              </a:lnSpc>
            </a:pPr>
            <a:endParaRPr lang="en-US" sz="2160" b="1">
              <a:solidFill>
                <a:srgbClr val="185079"/>
              </a:solidFill>
              <a:latin typeface="Open Sauce Bold"/>
              <a:ea typeface="Open Sauce Bold"/>
              <a:cs typeface="Open Sauce Bold"/>
              <a:sym typeface="Open Sauce Bold"/>
            </a:endParaRPr>
          </a:p>
          <a:p>
            <a:pPr marL="0" lvl="0" indent="0" algn="l">
              <a:lnSpc>
                <a:spcPts val="2520"/>
              </a:lnSpc>
              <a:spcBef>
                <a:spcPct val="0"/>
              </a:spcBef>
            </a:pPr>
            <a:endParaRPr lang="en-US" sz="2160" b="1">
              <a:solidFill>
                <a:srgbClr val="185079"/>
              </a:solidFill>
              <a:latin typeface="Open Sauce Bold"/>
              <a:ea typeface="Open Sauce Bold"/>
              <a:cs typeface="Open Sauce Bold"/>
              <a:sym typeface="Open Sauce Bold"/>
            </a:endParaRPr>
          </a:p>
        </p:txBody>
      </p:sp>
      <p:sp>
        <p:nvSpPr>
          <p:cNvPr id="11" name="TextBox 11"/>
          <p:cNvSpPr txBox="1"/>
          <p:nvPr/>
        </p:nvSpPr>
        <p:spPr>
          <a:xfrm>
            <a:off x="5499878" y="7911393"/>
            <a:ext cx="6031658" cy="706844"/>
          </a:xfrm>
          <a:prstGeom prst="rect">
            <a:avLst/>
          </a:prstGeom>
        </p:spPr>
        <p:txBody>
          <a:bodyPr lIns="0" tIns="0" rIns="0" bIns="0" rtlCol="0" anchor="t">
            <a:spAutoFit/>
          </a:bodyPr>
          <a:lstStyle/>
          <a:p>
            <a:pPr algn="ctr">
              <a:lnSpc>
                <a:spcPts val="2835"/>
              </a:lnSpc>
            </a:pPr>
            <a:r>
              <a:rPr lang="en-US" sz="2625" b="1" spc="-154">
                <a:solidFill>
                  <a:srgbClr val="185079"/>
                </a:solidFill>
                <a:latin typeface="Open Sauce Semi-Bold"/>
                <a:ea typeface="Open Sauce Semi-Bold"/>
                <a:cs typeface="Open Sauce Semi-Bold"/>
                <a:sym typeface="Open Sauce Semi-Bold"/>
              </a:rPr>
              <a:t>BEST MODEL: </a:t>
            </a:r>
            <a:r>
              <a:rPr lang="en-US" sz="2625" spc="-154">
                <a:solidFill>
                  <a:srgbClr val="185079"/>
                </a:solidFill>
                <a:latin typeface="Open Sauce"/>
                <a:ea typeface="Open Sauce"/>
                <a:cs typeface="Open Sauce"/>
                <a:sym typeface="Open Sauce"/>
              </a:rPr>
              <a:t>LOGISTIC REGRESSION</a:t>
            </a:r>
          </a:p>
          <a:p>
            <a:pPr algn="ctr">
              <a:lnSpc>
                <a:spcPts val="2835"/>
              </a:lnSpc>
              <a:spcBef>
                <a:spcPct val="0"/>
              </a:spcBef>
            </a:pPr>
            <a:r>
              <a:rPr lang="en-US" sz="2625" spc="-154">
                <a:solidFill>
                  <a:srgbClr val="185079"/>
                </a:solidFill>
                <a:latin typeface="Open Sauce"/>
                <a:ea typeface="Open Sauce"/>
                <a:cs typeface="Open Sauce"/>
                <a:sym typeface="Open Sauce"/>
              </a:rPr>
              <a:t>  </a:t>
            </a:r>
            <a:r>
              <a:rPr lang="en-US" sz="2625" b="1" spc="-154">
                <a:solidFill>
                  <a:srgbClr val="185079"/>
                </a:solidFill>
                <a:latin typeface="Open Sauce Semi-Bold"/>
                <a:ea typeface="Open Sauce Semi-Bold"/>
                <a:cs typeface="Open Sauce Semi-Bold"/>
                <a:sym typeface="Open Sauce Semi-Bold"/>
              </a:rPr>
              <a:t>Best Accuracy:</a:t>
            </a:r>
            <a:r>
              <a:rPr lang="en-US" sz="2625" spc="-154">
                <a:solidFill>
                  <a:srgbClr val="185079"/>
                </a:solidFill>
                <a:latin typeface="Open Sauce"/>
                <a:ea typeface="Open Sauce"/>
                <a:cs typeface="Open Sauce"/>
                <a:sym typeface="Open Sauce"/>
              </a:rPr>
              <a:t> 0.7874911158493249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TextBox 3"/>
          <p:cNvSpPr txBox="1"/>
          <p:nvPr/>
        </p:nvSpPr>
        <p:spPr>
          <a:xfrm>
            <a:off x="2982972" y="620429"/>
            <a:ext cx="11613966" cy="2197066"/>
          </a:xfrm>
          <a:prstGeom prst="rect">
            <a:avLst/>
          </a:prstGeom>
        </p:spPr>
        <p:txBody>
          <a:bodyPr lIns="0" tIns="0" rIns="0" bIns="0" rtlCol="0" anchor="t">
            <a:spAutoFit/>
          </a:bodyPr>
          <a:lstStyle/>
          <a:p>
            <a:pPr marL="0" lvl="0" indent="0" algn="ctr">
              <a:lnSpc>
                <a:spcPts val="8550"/>
              </a:lnSpc>
              <a:spcBef>
                <a:spcPct val="0"/>
              </a:spcBef>
            </a:pPr>
            <a:r>
              <a:rPr lang="en-US" sz="7917" b="1" spc="-467">
                <a:solidFill>
                  <a:srgbClr val="185079"/>
                </a:solidFill>
                <a:latin typeface="Open Sauce Semi-Bold"/>
                <a:ea typeface="Open Sauce Semi-Bold"/>
                <a:cs typeface="Open Sauce Semi-Bold"/>
                <a:sym typeface="Open Sauce Semi-Bold"/>
              </a:rPr>
              <a:t>SHAP ANALYSIS AND DASHBOARD</a:t>
            </a:r>
          </a:p>
        </p:txBody>
      </p:sp>
      <p:sp>
        <p:nvSpPr>
          <p:cNvPr id="4" name="Freeform 4"/>
          <p:cNvSpPr/>
          <p:nvPr/>
        </p:nvSpPr>
        <p:spPr>
          <a:xfrm>
            <a:off x="-8153289" y="-809206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5" name="Freeform 5"/>
          <p:cNvSpPr/>
          <p:nvPr/>
        </p:nvSpPr>
        <p:spPr>
          <a:xfrm>
            <a:off x="11275201" y="468873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6" name="Freeform 6"/>
          <p:cNvSpPr/>
          <p:nvPr/>
        </p:nvSpPr>
        <p:spPr>
          <a:xfrm>
            <a:off x="6686960" y="3299750"/>
            <a:ext cx="10572340" cy="6596358"/>
          </a:xfrm>
          <a:custGeom>
            <a:avLst/>
            <a:gdLst/>
            <a:ahLst/>
            <a:cxnLst/>
            <a:rect l="l" t="t" r="r" b="b"/>
            <a:pathLst>
              <a:path w="10572340" h="6596358">
                <a:moveTo>
                  <a:pt x="0" y="0"/>
                </a:moveTo>
                <a:lnTo>
                  <a:pt x="10572340" y="0"/>
                </a:lnTo>
                <a:lnTo>
                  <a:pt x="10572340" y="6596358"/>
                </a:lnTo>
                <a:lnTo>
                  <a:pt x="0" y="6596358"/>
                </a:lnTo>
                <a:lnTo>
                  <a:pt x="0" y="0"/>
                </a:lnTo>
                <a:close/>
              </a:path>
            </a:pathLst>
          </a:custGeom>
          <a:blipFill>
            <a:blip r:embed="rId4"/>
            <a:stretch>
              <a:fillRect/>
            </a:stretch>
          </a:blipFill>
        </p:spPr>
      </p:sp>
      <p:sp>
        <p:nvSpPr>
          <p:cNvPr id="7" name="TextBox 7"/>
          <p:cNvSpPr txBox="1"/>
          <p:nvPr/>
        </p:nvSpPr>
        <p:spPr>
          <a:xfrm>
            <a:off x="310631" y="3515945"/>
            <a:ext cx="6072828" cy="4402990"/>
          </a:xfrm>
          <a:prstGeom prst="rect">
            <a:avLst/>
          </a:prstGeom>
        </p:spPr>
        <p:txBody>
          <a:bodyPr lIns="0" tIns="0" rIns="0" bIns="0" rtlCol="0" anchor="t">
            <a:spAutoFit/>
          </a:bodyPr>
          <a:lstStyle/>
          <a:p>
            <a:pPr algn="l">
              <a:lnSpc>
                <a:spcPts val="4149"/>
              </a:lnSpc>
            </a:pPr>
            <a:r>
              <a:rPr lang="en-US" sz="2412" b="1" spc="-142">
                <a:solidFill>
                  <a:srgbClr val="185079"/>
                </a:solidFill>
                <a:latin typeface="Open Sauce Bold"/>
                <a:ea typeface="Open Sauce Bold"/>
                <a:cs typeface="Open Sauce Bold"/>
                <a:sym typeface="Open Sauce Bold"/>
              </a:rPr>
              <a:t>The major factors influencing customer churn are</a:t>
            </a:r>
            <a:r>
              <a:rPr lang="en-US" sz="2412" b="1" spc="-142">
                <a:solidFill>
                  <a:srgbClr val="185079"/>
                </a:solidFill>
                <a:latin typeface="Open Sauce Semi-Bold"/>
                <a:ea typeface="Open Sauce Semi-Bold"/>
                <a:cs typeface="Open Sauce Semi-Bold"/>
                <a:sym typeface="Open Sauce Semi-Bold"/>
              </a:rPr>
              <a:t>:</a:t>
            </a:r>
          </a:p>
          <a:p>
            <a:pPr algn="l">
              <a:lnSpc>
                <a:spcPts val="3977"/>
              </a:lnSpc>
            </a:pPr>
            <a:r>
              <a:rPr lang="en-US" sz="2312" spc="-136">
                <a:solidFill>
                  <a:srgbClr val="185079"/>
                </a:solidFill>
                <a:latin typeface="Open Sauce"/>
                <a:ea typeface="Open Sauce"/>
                <a:cs typeface="Open Sauce"/>
                <a:sym typeface="Open Sauce"/>
              </a:rPr>
              <a:t>             </a:t>
            </a:r>
            <a:r>
              <a:rPr lang="en-US" sz="2312" b="1" spc="-136">
                <a:solidFill>
                  <a:srgbClr val="185079"/>
                </a:solidFill>
                <a:latin typeface="Open Sauce Semi-Bold"/>
                <a:ea typeface="Open Sauce Semi-Bold"/>
                <a:cs typeface="Open Sauce Semi-Bold"/>
                <a:sym typeface="Open Sauce Semi-Bold"/>
              </a:rPr>
              <a:t>Contract type</a:t>
            </a:r>
          </a:p>
          <a:p>
            <a:pPr algn="l">
              <a:lnSpc>
                <a:spcPts val="3977"/>
              </a:lnSpc>
            </a:pPr>
            <a:r>
              <a:rPr lang="en-US" sz="2312" spc="-136">
                <a:solidFill>
                  <a:srgbClr val="185079"/>
                </a:solidFill>
                <a:latin typeface="Open Sauce"/>
                <a:ea typeface="Open Sauce"/>
                <a:cs typeface="Open Sauce"/>
                <a:sym typeface="Open Sauce"/>
              </a:rPr>
              <a:t>             </a:t>
            </a:r>
            <a:r>
              <a:rPr lang="en-US" sz="2312" b="1" spc="-136">
                <a:solidFill>
                  <a:srgbClr val="185079"/>
                </a:solidFill>
                <a:latin typeface="Open Sauce Semi-Bold"/>
                <a:ea typeface="Open Sauce Semi-Bold"/>
                <a:cs typeface="Open Sauce Semi-Bold"/>
                <a:sym typeface="Open Sauce Semi-Bold"/>
              </a:rPr>
              <a:t>Monthly charges</a:t>
            </a:r>
          </a:p>
          <a:p>
            <a:pPr algn="l">
              <a:lnSpc>
                <a:spcPts val="3977"/>
              </a:lnSpc>
            </a:pPr>
            <a:r>
              <a:rPr lang="en-US" sz="2312" spc="-136">
                <a:solidFill>
                  <a:srgbClr val="185079"/>
                </a:solidFill>
                <a:latin typeface="Open Sauce"/>
                <a:ea typeface="Open Sauce"/>
                <a:cs typeface="Open Sauce"/>
                <a:sym typeface="Open Sauce"/>
              </a:rPr>
              <a:t>             </a:t>
            </a:r>
            <a:r>
              <a:rPr lang="en-US" sz="2312" b="1" spc="-136">
                <a:solidFill>
                  <a:srgbClr val="185079"/>
                </a:solidFill>
                <a:latin typeface="Open Sauce Semi-Bold"/>
                <a:ea typeface="Open Sauce Semi-Bold"/>
                <a:cs typeface="Open Sauce Semi-Bold"/>
                <a:sym typeface="Open Sauce Semi-Bold"/>
              </a:rPr>
              <a:t>Tenure</a:t>
            </a:r>
          </a:p>
          <a:p>
            <a:pPr algn="l">
              <a:lnSpc>
                <a:spcPts val="3977"/>
              </a:lnSpc>
            </a:pPr>
            <a:r>
              <a:rPr lang="en-US" sz="2312" spc="-136">
                <a:solidFill>
                  <a:srgbClr val="185079"/>
                </a:solidFill>
                <a:latin typeface="Open Sauce"/>
                <a:ea typeface="Open Sauce"/>
                <a:cs typeface="Open Sauce"/>
                <a:sym typeface="Open Sauce"/>
              </a:rPr>
              <a:t>              </a:t>
            </a:r>
            <a:r>
              <a:rPr lang="en-US" sz="2312" b="1" spc="-136">
                <a:solidFill>
                  <a:srgbClr val="185079"/>
                </a:solidFill>
                <a:latin typeface="Open Sauce Semi-Bold"/>
                <a:ea typeface="Open Sauce Semi-Bold"/>
                <a:cs typeface="Open Sauce Semi-Bold"/>
                <a:sym typeface="Open Sauce Semi-Bold"/>
              </a:rPr>
              <a:t>Internet service type</a:t>
            </a:r>
          </a:p>
          <a:p>
            <a:pPr algn="l">
              <a:lnSpc>
                <a:spcPts val="3977"/>
              </a:lnSpc>
            </a:pPr>
            <a:r>
              <a:rPr lang="en-US" sz="2312" spc="-136">
                <a:solidFill>
                  <a:srgbClr val="185079"/>
                </a:solidFill>
                <a:latin typeface="Open Sauce"/>
                <a:ea typeface="Open Sauce"/>
                <a:cs typeface="Open Sauce"/>
                <a:sym typeface="Open Sauce"/>
              </a:rPr>
              <a:t>              </a:t>
            </a:r>
            <a:r>
              <a:rPr lang="en-US" sz="2312" b="1" spc="-136">
                <a:solidFill>
                  <a:srgbClr val="185079"/>
                </a:solidFill>
                <a:latin typeface="Open Sauce Semi-Bold"/>
                <a:ea typeface="Open Sauce Semi-Bold"/>
                <a:cs typeface="Open Sauce Semi-Bold"/>
                <a:sym typeface="Open Sauce Semi-Bold"/>
              </a:rPr>
              <a:t>Payment method</a:t>
            </a:r>
          </a:p>
          <a:p>
            <a:pPr algn="l">
              <a:lnSpc>
                <a:spcPts val="3977"/>
              </a:lnSpc>
            </a:pPr>
            <a:r>
              <a:rPr lang="en-US" sz="2312" spc="-136">
                <a:solidFill>
                  <a:srgbClr val="185079"/>
                </a:solidFill>
                <a:latin typeface="Open Sauce"/>
                <a:ea typeface="Open Sauce"/>
                <a:cs typeface="Open Sauce"/>
                <a:sym typeface="Open Sauce"/>
              </a:rPr>
              <a:t>              </a:t>
            </a:r>
            <a:r>
              <a:rPr lang="en-US" sz="2312" b="1" spc="-136">
                <a:solidFill>
                  <a:srgbClr val="185079"/>
                </a:solidFill>
                <a:latin typeface="Open Sauce Semi-Bold"/>
                <a:ea typeface="Open Sauce Semi-Bold"/>
                <a:cs typeface="Open Sauce Semi-Bold"/>
                <a:sym typeface="Open Sauce Semi-Bold"/>
              </a:rPr>
              <a:t>Customer support quality</a:t>
            </a:r>
          </a:p>
          <a:p>
            <a:pPr algn="ctr">
              <a:lnSpc>
                <a:spcPts val="2222"/>
              </a:lnSpc>
              <a:spcBef>
                <a:spcPct val="0"/>
              </a:spcBef>
            </a:pPr>
            <a:endParaRPr lang="en-US" sz="2312" b="1" spc="-136">
              <a:solidFill>
                <a:srgbClr val="185079"/>
              </a:solidFill>
              <a:latin typeface="Open Sauce Semi-Bold"/>
              <a:ea typeface="Open Sauce Semi-Bold"/>
              <a:cs typeface="Open Sauce Semi-Bold"/>
              <a:sym typeface="Open Sauce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TextBox 3"/>
          <p:cNvSpPr txBox="1"/>
          <p:nvPr/>
        </p:nvSpPr>
        <p:spPr>
          <a:xfrm>
            <a:off x="2982972" y="620429"/>
            <a:ext cx="11613966" cy="2197066"/>
          </a:xfrm>
          <a:prstGeom prst="rect">
            <a:avLst/>
          </a:prstGeom>
        </p:spPr>
        <p:txBody>
          <a:bodyPr lIns="0" tIns="0" rIns="0" bIns="0" rtlCol="0" anchor="t">
            <a:spAutoFit/>
          </a:bodyPr>
          <a:lstStyle/>
          <a:p>
            <a:pPr marL="0" lvl="0" indent="0" algn="ctr">
              <a:lnSpc>
                <a:spcPts val="8550"/>
              </a:lnSpc>
              <a:spcBef>
                <a:spcPct val="0"/>
              </a:spcBef>
            </a:pPr>
            <a:r>
              <a:rPr lang="en-US" sz="7917" b="1" spc="-467">
                <a:solidFill>
                  <a:srgbClr val="185079"/>
                </a:solidFill>
                <a:latin typeface="Open Sauce Semi-Bold"/>
                <a:ea typeface="Open Sauce Semi-Bold"/>
                <a:cs typeface="Open Sauce Semi-Bold"/>
                <a:sym typeface="Open Sauce Semi-Bold"/>
              </a:rPr>
              <a:t>SHAP ANALYSIS AND DASHBOARD</a:t>
            </a:r>
          </a:p>
        </p:txBody>
      </p:sp>
      <p:sp>
        <p:nvSpPr>
          <p:cNvPr id="4" name="TextBox 4"/>
          <p:cNvSpPr txBox="1"/>
          <p:nvPr/>
        </p:nvSpPr>
        <p:spPr>
          <a:xfrm>
            <a:off x="3691063" y="2977201"/>
            <a:ext cx="10905875" cy="935232"/>
          </a:xfrm>
          <a:prstGeom prst="rect">
            <a:avLst/>
          </a:prstGeom>
        </p:spPr>
        <p:txBody>
          <a:bodyPr lIns="0" tIns="0" rIns="0" bIns="0" rtlCol="0" anchor="t">
            <a:spAutoFit/>
          </a:bodyPr>
          <a:lstStyle/>
          <a:p>
            <a:pPr algn="ctr">
              <a:lnSpc>
                <a:spcPts val="2520"/>
              </a:lnSpc>
            </a:pPr>
            <a:r>
              <a:rPr lang="en-US" sz="1800" b="1">
                <a:solidFill>
                  <a:srgbClr val="185079"/>
                </a:solidFill>
                <a:latin typeface="Open Sauce Bold"/>
                <a:ea typeface="Open Sauce Bold"/>
                <a:cs typeface="Open Sauce Bold"/>
                <a:sym typeface="Open Sauce Bold"/>
              </a:rPr>
              <a:t>This dashboard presents Exploratory Data Analysis, Machine Learning model evaluation, FastAPI integration details, and final project insights.</a:t>
            </a:r>
          </a:p>
          <a:p>
            <a:pPr marL="0" lvl="0" indent="0" algn="ctr">
              <a:lnSpc>
                <a:spcPts val="2520"/>
              </a:lnSpc>
              <a:spcBef>
                <a:spcPct val="0"/>
              </a:spcBef>
            </a:pPr>
            <a:endParaRPr lang="en-US" sz="1800" b="1">
              <a:solidFill>
                <a:srgbClr val="185079"/>
              </a:solidFill>
              <a:latin typeface="Open Sauce Bold"/>
              <a:ea typeface="Open Sauce Bold"/>
              <a:cs typeface="Open Sauce Bold"/>
              <a:sym typeface="Open Sauce Bold"/>
            </a:endParaRPr>
          </a:p>
        </p:txBody>
      </p:sp>
      <p:sp>
        <p:nvSpPr>
          <p:cNvPr id="5" name="Freeform 5"/>
          <p:cNvSpPr/>
          <p:nvPr/>
        </p:nvSpPr>
        <p:spPr>
          <a:xfrm>
            <a:off x="-8153289" y="-809206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6" name="Freeform 6"/>
          <p:cNvSpPr/>
          <p:nvPr/>
        </p:nvSpPr>
        <p:spPr>
          <a:xfrm>
            <a:off x="11275201" y="468873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7" name="Freeform 7"/>
          <p:cNvSpPr/>
          <p:nvPr/>
        </p:nvSpPr>
        <p:spPr>
          <a:xfrm>
            <a:off x="2566356" y="3912433"/>
            <a:ext cx="13155289" cy="2462135"/>
          </a:xfrm>
          <a:custGeom>
            <a:avLst/>
            <a:gdLst/>
            <a:ahLst/>
            <a:cxnLst/>
            <a:rect l="l" t="t" r="r" b="b"/>
            <a:pathLst>
              <a:path w="13155289" h="2462135">
                <a:moveTo>
                  <a:pt x="0" y="0"/>
                </a:moveTo>
                <a:lnTo>
                  <a:pt x="13155288" y="0"/>
                </a:lnTo>
                <a:lnTo>
                  <a:pt x="13155288" y="2462134"/>
                </a:lnTo>
                <a:lnTo>
                  <a:pt x="0" y="2462134"/>
                </a:lnTo>
                <a:lnTo>
                  <a:pt x="0" y="0"/>
                </a:lnTo>
                <a:close/>
              </a:path>
            </a:pathLst>
          </a:custGeom>
          <a:blipFill>
            <a:blip r:embed="rId4"/>
            <a:stretch>
              <a:fillRect/>
            </a:stretch>
          </a:blipFill>
        </p:spPr>
      </p:sp>
      <p:sp>
        <p:nvSpPr>
          <p:cNvPr id="8" name="Freeform 8"/>
          <p:cNvSpPr/>
          <p:nvPr/>
        </p:nvSpPr>
        <p:spPr>
          <a:xfrm>
            <a:off x="2789242" y="6860342"/>
            <a:ext cx="12709515" cy="2806839"/>
          </a:xfrm>
          <a:custGeom>
            <a:avLst/>
            <a:gdLst/>
            <a:ahLst/>
            <a:cxnLst/>
            <a:rect l="l" t="t" r="r" b="b"/>
            <a:pathLst>
              <a:path w="12709515" h="2806839">
                <a:moveTo>
                  <a:pt x="0" y="0"/>
                </a:moveTo>
                <a:lnTo>
                  <a:pt x="12709516" y="0"/>
                </a:lnTo>
                <a:lnTo>
                  <a:pt x="12709516" y="2806839"/>
                </a:lnTo>
                <a:lnTo>
                  <a:pt x="0" y="2806839"/>
                </a:lnTo>
                <a:lnTo>
                  <a:pt x="0" y="0"/>
                </a:lnTo>
                <a:close/>
              </a:path>
            </a:pathLst>
          </a:custGeom>
          <a:blipFill>
            <a:blip r:embed="rId5"/>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TextBox 3"/>
          <p:cNvSpPr txBox="1"/>
          <p:nvPr/>
        </p:nvSpPr>
        <p:spPr>
          <a:xfrm>
            <a:off x="2982972" y="892924"/>
            <a:ext cx="11613966" cy="1111237"/>
          </a:xfrm>
          <a:prstGeom prst="rect">
            <a:avLst/>
          </a:prstGeom>
        </p:spPr>
        <p:txBody>
          <a:bodyPr lIns="0" tIns="0" rIns="0" bIns="0" rtlCol="0" anchor="t">
            <a:spAutoFit/>
          </a:bodyPr>
          <a:lstStyle/>
          <a:p>
            <a:pPr marL="0" lvl="0" indent="0" algn="ctr">
              <a:lnSpc>
                <a:spcPts val="8550"/>
              </a:lnSpc>
              <a:spcBef>
                <a:spcPct val="0"/>
              </a:spcBef>
            </a:pPr>
            <a:r>
              <a:rPr lang="en-US" sz="7917" b="1" spc="-467">
                <a:solidFill>
                  <a:srgbClr val="185079"/>
                </a:solidFill>
                <a:latin typeface="Open Sauce Semi-Bold"/>
                <a:ea typeface="Open Sauce Semi-Bold"/>
                <a:cs typeface="Open Sauce Semi-Bold"/>
                <a:sym typeface="Open Sauce Semi-Bold"/>
              </a:rPr>
              <a:t>FASTAPI INTEGRATION</a:t>
            </a:r>
          </a:p>
        </p:txBody>
      </p:sp>
      <p:sp>
        <p:nvSpPr>
          <p:cNvPr id="4" name="Freeform 4"/>
          <p:cNvSpPr/>
          <p:nvPr/>
        </p:nvSpPr>
        <p:spPr>
          <a:xfrm>
            <a:off x="-8153289" y="-8092067"/>
            <a:ext cx="15919790" cy="13575239"/>
          </a:xfrm>
          <a:custGeom>
            <a:avLst/>
            <a:gdLst/>
            <a:ahLst/>
            <a:cxnLst/>
            <a:rect l="l" t="t" r="r" b="b"/>
            <a:pathLst>
              <a:path w="15919790" h="13575239">
                <a:moveTo>
                  <a:pt x="0" y="0"/>
                </a:moveTo>
                <a:lnTo>
                  <a:pt x="15919789" y="0"/>
                </a:lnTo>
                <a:lnTo>
                  <a:pt x="15919789" y="13575239"/>
                </a:lnTo>
                <a:lnTo>
                  <a:pt x="0" y="13575239"/>
                </a:lnTo>
                <a:lnTo>
                  <a:pt x="0" y="0"/>
                </a:lnTo>
                <a:close/>
              </a:path>
            </a:pathLst>
          </a:custGeom>
          <a:blipFill>
            <a:blip r:embed="rId3"/>
            <a:stretch>
              <a:fillRect/>
            </a:stretch>
          </a:blipFill>
        </p:spPr>
      </p:sp>
      <p:sp>
        <p:nvSpPr>
          <p:cNvPr id="5" name="Freeform 5"/>
          <p:cNvSpPr/>
          <p:nvPr/>
        </p:nvSpPr>
        <p:spPr>
          <a:xfrm>
            <a:off x="11275201" y="4688737"/>
            <a:ext cx="15919790" cy="13575239"/>
          </a:xfrm>
          <a:custGeom>
            <a:avLst/>
            <a:gdLst/>
            <a:ahLst/>
            <a:cxnLst/>
            <a:rect l="l" t="t" r="r" b="b"/>
            <a:pathLst>
              <a:path w="15919790" h="13575239">
                <a:moveTo>
                  <a:pt x="0" y="0"/>
                </a:moveTo>
                <a:lnTo>
                  <a:pt x="15919790" y="0"/>
                </a:lnTo>
                <a:lnTo>
                  <a:pt x="15919790" y="13575239"/>
                </a:lnTo>
                <a:lnTo>
                  <a:pt x="0" y="13575239"/>
                </a:lnTo>
                <a:lnTo>
                  <a:pt x="0" y="0"/>
                </a:lnTo>
                <a:close/>
              </a:path>
            </a:pathLst>
          </a:custGeom>
          <a:blipFill>
            <a:blip r:embed="rId3"/>
            <a:stretch>
              <a:fillRect/>
            </a:stretch>
          </a:blipFill>
        </p:spPr>
      </p:sp>
      <p:sp>
        <p:nvSpPr>
          <p:cNvPr id="6" name="Freeform 6"/>
          <p:cNvSpPr/>
          <p:nvPr/>
        </p:nvSpPr>
        <p:spPr>
          <a:xfrm>
            <a:off x="265359" y="3163656"/>
            <a:ext cx="10190487" cy="3050163"/>
          </a:xfrm>
          <a:custGeom>
            <a:avLst/>
            <a:gdLst/>
            <a:ahLst/>
            <a:cxnLst/>
            <a:rect l="l" t="t" r="r" b="b"/>
            <a:pathLst>
              <a:path w="10190487" h="3050163">
                <a:moveTo>
                  <a:pt x="0" y="0"/>
                </a:moveTo>
                <a:lnTo>
                  <a:pt x="10190487" y="0"/>
                </a:lnTo>
                <a:lnTo>
                  <a:pt x="10190487" y="3050163"/>
                </a:lnTo>
                <a:lnTo>
                  <a:pt x="0" y="3050163"/>
                </a:lnTo>
                <a:lnTo>
                  <a:pt x="0" y="0"/>
                </a:lnTo>
                <a:close/>
              </a:path>
            </a:pathLst>
          </a:custGeom>
          <a:blipFill>
            <a:blip r:embed="rId4"/>
            <a:stretch>
              <a:fillRect r="-10900" b="-13469"/>
            </a:stretch>
          </a:blipFill>
        </p:spPr>
      </p:sp>
      <p:sp>
        <p:nvSpPr>
          <p:cNvPr id="7" name="Freeform 7"/>
          <p:cNvSpPr/>
          <p:nvPr/>
        </p:nvSpPr>
        <p:spPr>
          <a:xfrm>
            <a:off x="10680860" y="3187024"/>
            <a:ext cx="7161894" cy="3334865"/>
          </a:xfrm>
          <a:custGeom>
            <a:avLst/>
            <a:gdLst/>
            <a:ahLst/>
            <a:cxnLst/>
            <a:rect l="l" t="t" r="r" b="b"/>
            <a:pathLst>
              <a:path w="7161894" h="3334865">
                <a:moveTo>
                  <a:pt x="0" y="0"/>
                </a:moveTo>
                <a:lnTo>
                  <a:pt x="7161895" y="0"/>
                </a:lnTo>
                <a:lnTo>
                  <a:pt x="7161895" y="3334865"/>
                </a:lnTo>
                <a:lnTo>
                  <a:pt x="0" y="3334865"/>
                </a:lnTo>
                <a:lnTo>
                  <a:pt x="0" y="0"/>
                </a:lnTo>
                <a:close/>
              </a:path>
            </a:pathLst>
          </a:custGeom>
          <a:blipFill>
            <a:blip r:embed="rId5"/>
            <a:stretch>
              <a:fillRect t="-356" r="-119175" b="-201293"/>
            </a:stretch>
          </a:blipFill>
        </p:spPr>
      </p:sp>
      <p:sp>
        <p:nvSpPr>
          <p:cNvPr id="8" name="Freeform 8"/>
          <p:cNvSpPr/>
          <p:nvPr/>
        </p:nvSpPr>
        <p:spPr>
          <a:xfrm>
            <a:off x="9708208" y="6842735"/>
            <a:ext cx="8134547" cy="3210950"/>
          </a:xfrm>
          <a:custGeom>
            <a:avLst/>
            <a:gdLst/>
            <a:ahLst/>
            <a:cxnLst/>
            <a:rect l="l" t="t" r="r" b="b"/>
            <a:pathLst>
              <a:path w="8134547" h="3210950">
                <a:moveTo>
                  <a:pt x="0" y="0"/>
                </a:moveTo>
                <a:lnTo>
                  <a:pt x="8134547" y="0"/>
                </a:lnTo>
                <a:lnTo>
                  <a:pt x="8134547" y="3210950"/>
                </a:lnTo>
                <a:lnTo>
                  <a:pt x="0" y="3210950"/>
                </a:lnTo>
                <a:lnTo>
                  <a:pt x="0" y="0"/>
                </a:lnTo>
                <a:close/>
              </a:path>
            </a:pathLst>
          </a:custGeom>
          <a:blipFill>
            <a:blip r:embed="rId6"/>
            <a:stretch>
              <a:fillRect t="-23463" r="-26343" b="-11839"/>
            </a:stretch>
          </a:blipFill>
        </p:spPr>
      </p:sp>
      <p:sp>
        <p:nvSpPr>
          <p:cNvPr id="9" name="Freeform 9"/>
          <p:cNvSpPr/>
          <p:nvPr/>
        </p:nvSpPr>
        <p:spPr>
          <a:xfrm>
            <a:off x="265359" y="6521889"/>
            <a:ext cx="8878641" cy="3852642"/>
          </a:xfrm>
          <a:custGeom>
            <a:avLst/>
            <a:gdLst/>
            <a:ahLst/>
            <a:cxnLst/>
            <a:rect l="l" t="t" r="r" b="b"/>
            <a:pathLst>
              <a:path w="8878641" h="3852642">
                <a:moveTo>
                  <a:pt x="0" y="0"/>
                </a:moveTo>
                <a:lnTo>
                  <a:pt x="8878641" y="0"/>
                </a:lnTo>
                <a:lnTo>
                  <a:pt x="8878641" y="3852642"/>
                </a:lnTo>
                <a:lnTo>
                  <a:pt x="0" y="3852642"/>
                </a:lnTo>
                <a:lnTo>
                  <a:pt x="0" y="0"/>
                </a:lnTo>
                <a:close/>
              </a:path>
            </a:pathLst>
          </a:custGeom>
          <a:blipFill>
            <a:blip r:embed="rId7"/>
            <a:stretch>
              <a:fillRect t="-1564" b="-1564"/>
            </a:stretch>
          </a:blipFill>
        </p:spPr>
      </p:sp>
      <p:sp>
        <p:nvSpPr>
          <p:cNvPr id="10" name="TextBox 10"/>
          <p:cNvSpPr txBox="1"/>
          <p:nvPr/>
        </p:nvSpPr>
        <p:spPr>
          <a:xfrm>
            <a:off x="1829960" y="1924136"/>
            <a:ext cx="13919989" cy="2498090"/>
          </a:xfrm>
          <a:prstGeom prst="rect">
            <a:avLst/>
          </a:prstGeom>
        </p:spPr>
        <p:txBody>
          <a:bodyPr lIns="0" tIns="0" rIns="0" bIns="0" rtlCol="0" anchor="t">
            <a:spAutoFit/>
          </a:bodyPr>
          <a:lstStyle/>
          <a:p>
            <a:pPr algn="ctr">
              <a:lnSpc>
                <a:spcPts val="2218"/>
              </a:lnSpc>
            </a:pPr>
            <a:endParaRPr/>
          </a:p>
          <a:p>
            <a:pPr algn="ctr">
              <a:lnSpc>
                <a:spcPts val="2218"/>
              </a:lnSpc>
            </a:pPr>
            <a:r>
              <a:rPr lang="en-US" sz="2053" spc="-121">
                <a:solidFill>
                  <a:srgbClr val="185079"/>
                </a:solidFill>
                <a:latin typeface="Open Sauce"/>
                <a:ea typeface="Open Sauce"/>
                <a:cs typeface="Open Sauce"/>
                <a:sym typeface="Open Sauce"/>
              </a:rPr>
              <a:t>/predict_churn API predicts customer churn based on customer information</a:t>
            </a:r>
          </a:p>
          <a:p>
            <a:pPr algn="ctr">
              <a:lnSpc>
                <a:spcPts val="2218"/>
              </a:lnSpc>
            </a:pPr>
            <a:r>
              <a:rPr lang="en-US" sz="2053" spc="-121">
                <a:solidFill>
                  <a:srgbClr val="185079"/>
                </a:solidFill>
                <a:latin typeface="Open Sauce"/>
                <a:ea typeface="Open Sauce"/>
                <a:cs typeface="Open Sauce"/>
                <a:sym typeface="Open Sauce"/>
              </a:rPr>
              <a:t>/PREDICT_LTV API ESTIMATES THE FUTURE VALUE OF A CUSTOMER TO THE BUSINESS.</a:t>
            </a:r>
          </a:p>
          <a:p>
            <a:pPr algn="ctr">
              <a:lnSpc>
                <a:spcPts val="2218"/>
              </a:lnSpc>
            </a:pPr>
            <a:r>
              <a:rPr lang="en-US" sz="2053" spc="-121">
                <a:solidFill>
                  <a:srgbClr val="185079"/>
                </a:solidFill>
                <a:latin typeface="Open Sauce"/>
                <a:ea typeface="Open Sauce"/>
                <a:cs typeface="Open Sauce"/>
                <a:sym typeface="Open Sauce"/>
              </a:rPr>
              <a:t>/BATCH_PREDICT API ENABLES BULK CHURN PREDICTION FOR MULTIPLE CUSTOMERS SIMULTANEOUSLY.</a:t>
            </a:r>
          </a:p>
          <a:p>
            <a:pPr algn="ctr">
              <a:lnSpc>
                <a:spcPts val="2218"/>
              </a:lnSpc>
            </a:pPr>
            <a:endParaRPr lang="en-US" sz="2053" spc="-121">
              <a:solidFill>
                <a:srgbClr val="185079"/>
              </a:solidFill>
              <a:latin typeface="Open Sauce"/>
              <a:ea typeface="Open Sauce"/>
              <a:cs typeface="Open Sauce"/>
              <a:sym typeface="Open Sauce"/>
            </a:endParaRPr>
          </a:p>
          <a:p>
            <a:pPr algn="ctr">
              <a:lnSpc>
                <a:spcPts val="2218"/>
              </a:lnSpc>
            </a:pPr>
            <a:endParaRPr lang="en-US" sz="2053" spc="-121">
              <a:solidFill>
                <a:srgbClr val="185079"/>
              </a:solidFill>
              <a:latin typeface="Open Sauce"/>
              <a:ea typeface="Open Sauce"/>
              <a:cs typeface="Open Sauce"/>
              <a:sym typeface="Open Sauce"/>
            </a:endParaRPr>
          </a:p>
          <a:p>
            <a:pPr algn="ctr">
              <a:lnSpc>
                <a:spcPts val="2218"/>
              </a:lnSpc>
            </a:pPr>
            <a:endParaRPr lang="en-US" sz="2053" spc="-121">
              <a:solidFill>
                <a:srgbClr val="185079"/>
              </a:solidFill>
              <a:latin typeface="Open Sauce"/>
              <a:ea typeface="Open Sauce"/>
              <a:cs typeface="Open Sauce"/>
              <a:sym typeface="Open Sauce"/>
            </a:endParaRPr>
          </a:p>
          <a:p>
            <a:pPr algn="ctr">
              <a:lnSpc>
                <a:spcPts val="2218"/>
              </a:lnSpc>
            </a:pPr>
            <a:endParaRPr lang="en-US" sz="2053" spc="-121">
              <a:solidFill>
                <a:srgbClr val="185079"/>
              </a:solidFill>
              <a:latin typeface="Open Sauce"/>
              <a:ea typeface="Open Sauce"/>
              <a:cs typeface="Open Sauce"/>
              <a:sym typeface="Open Sauce"/>
            </a:endParaRPr>
          </a:p>
          <a:p>
            <a:pPr algn="ctr">
              <a:lnSpc>
                <a:spcPts val="2218"/>
              </a:lnSpc>
              <a:spcBef>
                <a:spcPct val="0"/>
              </a:spcBef>
            </a:pPr>
            <a:endParaRPr lang="en-US" sz="2053" spc="-121">
              <a:solidFill>
                <a:srgbClr val="185079"/>
              </a:solidFill>
              <a:latin typeface="Open Sauce"/>
              <a:ea typeface="Open Sauce"/>
              <a:cs typeface="Open Sauce"/>
              <a:sym typeface="Open Sauc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grpSp>
        <p:nvGrpSpPr>
          <p:cNvPr id="3" name="Group 3"/>
          <p:cNvGrpSpPr/>
          <p:nvPr/>
        </p:nvGrpSpPr>
        <p:grpSpPr>
          <a:xfrm>
            <a:off x="1028700" y="764000"/>
            <a:ext cx="16736327" cy="8771450"/>
            <a:chOff x="0" y="0"/>
            <a:chExt cx="4407921" cy="2310176"/>
          </a:xfrm>
        </p:grpSpPr>
        <p:sp>
          <p:nvSpPr>
            <p:cNvPr id="4" name="Freeform 4"/>
            <p:cNvSpPr/>
            <p:nvPr/>
          </p:nvSpPr>
          <p:spPr>
            <a:xfrm>
              <a:off x="0" y="0"/>
              <a:ext cx="4407921" cy="2310176"/>
            </a:xfrm>
            <a:custGeom>
              <a:avLst/>
              <a:gdLst/>
              <a:ahLst/>
              <a:cxnLst/>
              <a:rect l="l" t="t" r="r" b="b"/>
              <a:pathLst>
                <a:path w="4407921" h="2310176">
                  <a:moveTo>
                    <a:pt x="16190" y="0"/>
                  </a:moveTo>
                  <a:lnTo>
                    <a:pt x="4391731" y="0"/>
                  </a:lnTo>
                  <a:cubicBezTo>
                    <a:pt x="4400672" y="0"/>
                    <a:pt x="4407921" y="7249"/>
                    <a:pt x="4407921" y="16190"/>
                  </a:cubicBezTo>
                  <a:lnTo>
                    <a:pt x="4407921" y="2293986"/>
                  </a:lnTo>
                  <a:cubicBezTo>
                    <a:pt x="4407921" y="2302927"/>
                    <a:pt x="4400672" y="2310176"/>
                    <a:pt x="4391731" y="2310176"/>
                  </a:cubicBezTo>
                  <a:lnTo>
                    <a:pt x="16190" y="2310176"/>
                  </a:lnTo>
                  <a:cubicBezTo>
                    <a:pt x="7249" y="2310176"/>
                    <a:pt x="0" y="2302927"/>
                    <a:pt x="0" y="2293986"/>
                  </a:cubicBezTo>
                  <a:lnTo>
                    <a:pt x="0" y="16190"/>
                  </a:lnTo>
                  <a:cubicBezTo>
                    <a:pt x="0" y="7249"/>
                    <a:pt x="7249" y="0"/>
                    <a:pt x="16190" y="0"/>
                  </a:cubicBezTo>
                  <a:close/>
                </a:path>
              </a:pathLst>
            </a:custGeom>
            <a:solidFill>
              <a:srgbClr val="BBD6E1"/>
            </a:solidFill>
          </p:spPr>
        </p:sp>
        <p:sp>
          <p:nvSpPr>
            <p:cNvPr id="5" name="TextBox 5"/>
            <p:cNvSpPr txBox="1"/>
            <p:nvPr/>
          </p:nvSpPr>
          <p:spPr>
            <a:xfrm>
              <a:off x="0" y="-38100"/>
              <a:ext cx="4407921" cy="234827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4708439" y="1506751"/>
            <a:ext cx="8871123" cy="2197066"/>
          </a:xfrm>
          <a:prstGeom prst="rect">
            <a:avLst/>
          </a:prstGeom>
        </p:spPr>
        <p:txBody>
          <a:bodyPr lIns="0" tIns="0" rIns="0" bIns="0" rtlCol="0" anchor="t">
            <a:spAutoFit/>
          </a:bodyPr>
          <a:lstStyle/>
          <a:p>
            <a:pPr marL="0" lvl="0" indent="0" algn="ctr">
              <a:lnSpc>
                <a:spcPts val="8550"/>
              </a:lnSpc>
              <a:spcBef>
                <a:spcPct val="0"/>
              </a:spcBef>
            </a:pPr>
            <a:r>
              <a:rPr lang="en-US" sz="7917" b="1" spc="-467">
                <a:solidFill>
                  <a:srgbClr val="185079"/>
                </a:solidFill>
                <a:latin typeface="Open Sauce Semi-Bold"/>
                <a:ea typeface="Open Sauce Semi-Bold"/>
                <a:cs typeface="Open Sauce Semi-Bold"/>
                <a:sym typeface="Open Sauce Semi-Bold"/>
              </a:rPr>
              <a:t>CONCLUSION AND FUTURE SCOPE</a:t>
            </a:r>
          </a:p>
        </p:txBody>
      </p:sp>
      <p:sp>
        <p:nvSpPr>
          <p:cNvPr id="7" name="TextBox 7"/>
          <p:cNvSpPr txBox="1"/>
          <p:nvPr/>
        </p:nvSpPr>
        <p:spPr>
          <a:xfrm>
            <a:off x="2866242" y="3621002"/>
            <a:ext cx="12555516" cy="1648210"/>
          </a:xfrm>
          <a:prstGeom prst="rect">
            <a:avLst/>
          </a:prstGeom>
        </p:spPr>
        <p:txBody>
          <a:bodyPr lIns="0" tIns="0" rIns="0" bIns="0" rtlCol="0" anchor="t">
            <a:spAutoFit/>
          </a:bodyPr>
          <a:lstStyle/>
          <a:p>
            <a:pPr algn="just">
              <a:lnSpc>
                <a:spcPts val="3499"/>
              </a:lnSpc>
            </a:pPr>
            <a:r>
              <a:rPr lang="en-US" sz="2499" b="1" dirty="0">
                <a:solidFill>
                  <a:srgbClr val="185079"/>
                </a:solidFill>
                <a:latin typeface="Open Sauce Bold"/>
                <a:ea typeface="Open Sauce Bold"/>
                <a:cs typeface="Open Sauce Bold"/>
                <a:sym typeface="Open Sauce Bold"/>
              </a:rPr>
              <a:t>“This project successfully predicted customer churn using machine learning and identified key factors affecting customer retention, helping businesses improve customer satisfaction and reduce revenue loss.”</a:t>
            </a:r>
          </a:p>
          <a:p>
            <a:pPr marL="0" lvl="0" indent="0" algn="just">
              <a:lnSpc>
                <a:spcPts val="2766"/>
              </a:lnSpc>
              <a:spcBef>
                <a:spcPct val="0"/>
              </a:spcBef>
            </a:pPr>
            <a:endParaRPr lang="en-US" sz="2499" b="1" dirty="0">
              <a:solidFill>
                <a:srgbClr val="185079"/>
              </a:solidFill>
              <a:latin typeface="Open Sauce Bold"/>
              <a:ea typeface="Open Sauce Bold"/>
              <a:cs typeface="Open Sauce Bold"/>
              <a:sym typeface="Open Sauce Bold"/>
            </a:endParaRPr>
          </a:p>
        </p:txBody>
      </p:sp>
      <p:sp>
        <p:nvSpPr>
          <p:cNvPr id="8" name="TextBox 8"/>
          <p:cNvSpPr txBox="1"/>
          <p:nvPr/>
        </p:nvSpPr>
        <p:spPr>
          <a:xfrm>
            <a:off x="3452058" y="5428840"/>
            <a:ext cx="4011029" cy="3829460"/>
          </a:xfrm>
          <a:prstGeom prst="rect">
            <a:avLst/>
          </a:prstGeom>
        </p:spPr>
        <p:txBody>
          <a:bodyPr lIns="0" tIns="0" rIns="0" bIns="0" rtlCol="0" anchor="t">
            <a:spAutoFit/>
          </a:bodyPr>
          <a:lstStyle/>
          <a:p>
            <a:pPr algn="l">
              <a:lnSpc>
                <a:spcPts val="3639"/>
              </a:lnSpc>
            </a:pPr>
            <a:r>
              <a:rPr lang="en-US" sz="2599" b="1">
                <a:solidFill>
                  <a:srgbClr val="185079"/>
                </a:solidFill>
                <a:latin typeface="Open Sauce Bold"/>
                <a:ea typeface="Open Sauce Bold"/>
                <a:cs typeface="Open Sauce Bold"/>
                <a:sym typeface="Open Sauce Bold"/>
              </a:rPr>
              <a:t>Future Scope:</a:t>
            </a:r>
          </a:p>
          <a:p>
            <a:pPr algn="l">
              <a:lnSpc>
                <a:spcPts val="3359"/>
              </a:lnSpc>
            </a:pPr>
            <a:r>
              <a:rPr lang="en-US" sz="2399">
                <a:solidFill>
                  <a:srgbClr val="185079"/>
                </a:solidFill>
                <a:latin typeface="Open Sauce"/>
                <a:ea typeface="Open Sauce"/>
                <a:cs typeface="Open Sauce"/>
                <a:sym typeface="Open Sauce"/>
              </a:rPr>
              <a:t>- Cloud deployment</a:t>
            </a:r>
          </a:p>
          <a:p>
            <a:pPr algn="l">
              <a:lnSpc>
                <a:spcPts val="3359"/>
              </a:lnSpc>
            </a:pPr>
            <a:r>
              <a:rPr lang="en-US" sz="2399">
                <a:solidFill>
                  <a:srgbClr val="185079"/>
                </a:solidFill>
                <a:latin typeface="Open Sauce"/>
                <a:ea typeface="Open Sauce"/>
                <a:cs typeface="Open Sauce"/>
                <a:sym typeface="Open Sauce"/>
              </a:rPr>
              <a:t>- Real-time monitoring</a:t>
            </a:r>
          </a:p>
          <a:p>
            <a:pPr algn="l">
              <a:lnSpc>
                <a:spcPts val="3359"/>
              </a:lnSpc>
            </a:pPr>
            <a:r>
              <a:rPr lang="en-US" sz="2399">
                <a:solidFill>
                  <a:srgbClr val="185079"/>
                </a:solidFill>
                <a:latin typeface="Open Sauce"/>
                <a:ea typeface="Open Sauce"/>
                <a:cs typeface="Open Sauce"/>
                <a:sym typeface="Open Sauce"/>
              </a:rPr>
              <a:t>- Advanced ML optimization</a:t>
            </a:r>
          </a:p>
          <a:p>
            <a:pPr algn="l">
              <a:lnSpc>
                <a:spcPts val="3359"/>
              </a:lnSpc>
            </a:pPr>
            <a:r>
              <a:rPr lang="en-US" sz="2399">
                <a:solidFill>
                  <a:srgbClr val="185079"/>
                </a:solidFill>
                <a:latin typeface="Open Sauce"/>
                <a:ea typeface="Open Sauce"/>
                <a:cs typeface="Open Sauce"/>
                <a:sym typeface="Open Sauce"/>
              </a:rPr>
              <a:t>- Interactive business dashboards</a:t>
            </a:r>
          </a:p>
          <a:p>
            <a:pPr algn="l">
              <a:lnSpc>
                <a:spcPts val="3359"/>
              </a:lnSpc>
            </a:pPr>
            <a:endParaRPr lang="en-US" sz="2399">
              <a:solidFill>
                <a:srgbClr val="185079"/>
              </a:solidFill>
              <a:latin typeface="Open Sauce"/>
              <a:ea typeface="Open Sauce"/>
              <a:cs typeface="Open Sauce"/>
              <a:sym typeface="Open Sauce"/>
            </a:endParaRPr>
          </a:p>
          <a:p>
            <a:pPr marL="0" lvl="0" indent="0" algn="l">
              <a:lnSpc>
                <a:spcPts val="3639"/>
              </a:lnSpc>
              <a:spcBef>
                <a:spcPct val="0"/>
              </a:spcBef>
            </a:pPr>
            <a:endParaRPr lang="en-US" sz="2399">
              <a:solidFill>
                <a:srgbClr val="185079"/>
              </a:solidFill>
              <a:latin typeface="Open Sauce"/>
              <a:ea typeface="Open Sauce"/>
              <a:cs typeface="Open Sauce"/>
              <a:sym typeface="Open Sauce"/>
            </a:endParaRPr>
          </a:p>
        </p:txBody>
      </p:sp>
      <p:sp>
        <p:nvSpPr>
          <p:cNvPr id="9" name="TextBox 9"/>
          <p:cNvSpPr txBox="1"/>
          <p:nvPr/>
        </p:nvSpPr>
        <p:spPr>
          <a:xfrm>
            <a:off x="8648591" y="5064467"/>
            <a:ext cx="8115300" cy="4193833"/>
          </a:xfrm>
          <a:prstGeom prst="rect">
            <a:avLst/>
          </a:prstGeom>
        </p:spPr>
        <p:txBody>
          <a:bodyPr lIns="0" tIns="0" rIns="0" bIns="0" rtlCol="0" anchor="t">
            <a:spAutoFit/>
          </a:bodyPr>
          <a:lstStyle/>
          <a:p>
            <a:pPr algn="l">
              <a:lnSpc>
                <a:spcPts val="3562"/>
              </a:lnSpc>
            </a:pPr>
            <a:r>
              <a:rPr lang="en-US" sz="2600" b="1">
                <a:solidFill>
                  <a:srgbClr val="185079"/>
                </a:solidFill>
                <a:latin typeface="Open Sauce Semi-Bold"/>
                <a:ea typeface="Open Sauce Semi-Bold"/>
                <a:cs typeface="Open Sauce Semi-Bold"/>
                <a:sym typeface="Open Sauce Semi-Bold"/>
              </a:rPr>
              <a:t>Additional Requirements:</a:t>
            </a:r>
          </a:p>
          <a:p>
            <a:pPr algn="l">
              <a:lnSpc>
                <a:spcPts val="3650"/>
              </a:lnSpc>
            </a:pPr>
            <a:r>
              <a:rPr lang="en-US" sz="2664">
                <a:solidFill>
                  <a:srgbClr val="185079"/>
                </a:solidFill>
                <a:latin typeface="Open Sauce"/>
                <a:ea typeface="Open Sauce"/>
                <a:cs typeface="Open Sauce"/>
                <a:sym typeface="Open Sauce"/>
              </a:rPr>
              <a:t>- Use minimal text and more visuals</a:t>
            </a:r>
          </a:p>
          <a:p>
            <a:pPr algn="l">
              <a:lnSpc>
                <a:spcPts val="3288"/>
              </a:lnSpc>
            </a:pPr>
            <a:r>
              <a:rPr lang="en-US" sz="2400">
                <a:solidFill>
                  <a:srgbClr val="185079"/>
                </a:solidFill>
                <a:latin typeface="Open Sauce"/>
                <a:ea typeface="Open Sauce"/>
                <a:cs typeface="Open Sauce"/>
                <a:sym typeface="Open Sauce"/>
              </a:rPr>
              <a:t>- Add professional analytics style</a:t>
            </a:r>
          </a:p>
          <a:p>
            <a:pPr algn="l">
              <a:lnSpc>
                <a:spcPts val="3650"/>
              </a:lnSpc>
            </a:pPr>
            <a:r>
              <a:rPr lang="en-US" sz="2664">
                <a:solidFill>
                  <a:srgbClr val="185079"/>
                </a:solidFill>
                <a:latin typeface="Open Sauce"/>
                <a:ea typeface="Open Sauce"/>
                <a:cs typeface="Open Sauce"/>
                <a:sym typeface="Open Sauce"/>
              </a:rPr>
              <a:t>- Include infographic elements</a:t>
            </a:r>
          </a:p>
          <a:p>
            <a:pPr algn="l">
              <a:lnSpc>
                <a:spcPts val="3650"/>
              </a:lnSpc>
            </a:pPr>
            <a:r>
              <a:rPr lang="en-US" sz="2664">
                <a:solidFill>
                  <a:srgbClr val="185079"/>
                </a:solidFill>
                <a:latin typeface="Open Sauce"/>
                <a:ea typeface="Open Sauce"/>
                <a:cs typeface="Open Sauce"/>
                <a:sym typeface="Open Sauce"/>
              </a:rPr>
              <a:t>- Use modern corporate presentation design</a:t>
            </a:r>
          </a:p>
          <a:p>
            <a:pPr algn="l">
              <a:lnSpc>
                <a:spcPts val="3650"/>
              </a:lnSpc>
            </a:pPr>
            <a:r>
              <a:rPr lang="en-US" sz="2664">
                <a:solidFill>
                  <a:srgbClr val="185079"/>
                </a:solidFill>
                <a:latin typeface="Open Sauce"/>
                <a:ea typeface="Open Sauce"/>
                <a:cs typeface="Open Sauce"/>
                <a:sym typeface="Open Sauce"/>
              </a:rPr>
              <a:t>- Make the presentation internship review ready</a:t>
            </a:r>
          </a:p>
          <a:p>
            <a:pPr algn="l">
              <a:lnSpc>
                <a:spcPts val="3650"/>
              </a:lnSpc>
            </a:pPr>
            <a:r>
              <a:rPr lang="en-US" sz="2664">
                <a:solidFill>
                  <a:srgbClr val="185079"/>
                </a:solidFill>
                <a:latin typeface="Open Sauce"/>
                <a:ea typeface="Open Sauce"/>
                <a:cs typeface="Open Sauce"/>
                <a:sym typeface="Open Sauce"/>
              </a:rPr>
              <a:t>- Use uploaded graphs, dashboard screenshots, confusion matrix, SHAP analysis, and Swagger UI screenshots wherever suitable.</a:t>
            </a:r>
          </a:p>
          <a:p>
            <a:pPr algn="l">
              <a:lnSpc>
                <a:spcPts val="976"/>
              </a:lnSpc>
            </a:pPr>
            <a:endParaRPr lang="en-US" sz="2664">
              <a:solidFill>
                <a:srgbClr val="185079"/>
              </a:solidFill>
              <a:latin typeface="Open Sauce"/>
              <a:ea typeface="Open Sauce"/>
              <a:cs typeface="Open Sauce"/>
              <a:sym typeface="Open Sauc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7181" t="-19076" r="-3000" b="-11427"/>
            </a:stretch>
          </a:blipFill>
        </p:spPr>
      </p:sp>
      <p:sp>
        <p:nvSpPr>
          <p:cNvPr id="3" name="TextBox 3"/>
          <p:cNvSpPr txBox="1"/>
          <p:nvPr/>
        </p:nvSpPr>
        <p:spPr>
          <a:xfrm>
            <a:off x="1028700" y="3193386"/>
            <a:ext cx="10155052" cy="1965964"/>
          </a:xfrm>
          <a:prstGeom prst="rect">
            <a:avLst/>
          </a:prstGeom>
        </p:spPr>
        <p:txBody>
          <a:bodyPr lIns="0" tIns="0" rIns="0" bIns="0" rtlCol="0" anchor="t">
            <a:spAutoFit/>
          </a:bodyPr>
          <a:lstStyle/>
          <a:p>
            <a:pPr algn="l">
              <a:lnSpc>
                <a:spcPts val="15120"/>
              </a:lnSpc>
            </a:pPr>
            <a:r>
              <a:rPr lang="en-US" sz="14000" spc="-826">
                <a:solidFill>
                  <a:srgbClr val="185079"/>
                </a:solidFill>
                <a:latin typeface="Open Sauce"/>
                <a:ea typeface="Open Sauce"/>
                <a:cs typeface="Open Sauce"/>
                <a:sym typeface="Open Sauce"/>
              </a:rPr>
              <a:t>THANK YOU</a:t>
            </a:r>
          </a:p>
        </p:txBody>
      </p:sp>
      <p:sp>
        <p:nvSpPr>
          <p:cNvPr id="4" name="Freeform 4"/>
          <p:cNvSpPr/>
          <p:nvPr/>
        </p:nvSpPr>
        <p:spPr>
          <a:xfrm>
            <a:off x="5608035" y="-4316939"/>
            <a:ext cx="22188662" cy="18920878"/>
          </a:xfrm>
          <a:custGeom>
            <a:avLst/>
            <a:gdLst/>
            <a:ahLst/>
            <a:cxnLst/>
            <a:rect l="l" t="t" r="r" b="b"/>
            <a:pathLst>
              <a:path w="22188662" h="18920878">
                <a:moveTo>
                  <a:pt x="0" y="0"/>
                </a:moveTo>
                <a:lnTo>
                  <a:pt x="22188662" y="0"/>
                </a:lnTo>
                <a:lnTo>
                  <a:pt x="22188662" y="18920878"/>
                </a:lnTo>
                <a:lnTo>
                  <a:pt x="0" y="18920878"/>
                </a:lnTo>
                <a:lnTo>
                  <a:pt x="0" y="0"/>
                </a:lnTo>
                <a:close/>
              </a:path>
            </a:pathLst>
          </a:custGeom>
          <a:blipFill>
            <a:blip r:embed="rId3"/>
            <a:stretch>
              <a:fillRect/>
            </a:stretch>
          </a:blipFill>
        </p:spPr>
      </p:sp>
      <p:sp>
        <p:nvSpPr>
          <p:cNvPr id="5" name="TextBox 5"/>
          <p:cNvSpPr txBox="1"/>
          <p:nvPr/>
        </p:nvSpPr>
        <p:spPr>
          <a:xfrm>
            <a:off x="1028700" y="5001928"/>
            <a:ext cx="13616443" cy="2253611"/>
          </a:xfrm>
          <a:prstGeom prst="rect">
            <a:avLst/>
          </a:prstGeom>
        </p:spPr>
        <p:txBody>
          <a:bodyPr lIns="0" tIns="0" rIns="0" bIns="0" rtlCol="0" anchor="t">
            <a:spAutoFit/>
          </a:bodyPr>
          <a:lstStyle/>
          <a:p>
            <a:pPr marL="0" lvl="0" indent="0" algn="l">
              <a:lnSpc>
                <a:spcPts val="17279"/>
              </a:lnSpc>
              <a:spcBef>
                <a:spcPct val="0"/>
              </a:spcBef>
            </a:pPr>
            <a:r>
              <a:rPr lang="en-US" sz="15999" b="1" spc="-943">
                <a:solidFill>
                  <a:srgbClr val="185079"/>
                </a:solidFill>
                <a:latin typeface="Open Sauce Semi-Bold"/>
                <a:ea typeface="Open Sauce Semi-Bold"/>
                <a:cs typeface="Open Sauce Semi-Bold"/>
                <a:sym typeface="Open Sauce Semi-Bold"/>
              </a:rPr>
              <a:t>VERY MUCH</a:t>
            </a:r>
          </a:p>
        </p:txBody>
      </p:sp>
      <p:sp>
        <p:nvSpPr>
          <p:cNvPr id="6" name="Freeform 6"/>
          <p:cNvSpPr/>
          <p:nvPr/>
        </p:nvSpPr>
        <p:spPr>
          <a:xfrm>
            <a:off x="1028700" y="1028700"/>
            <a:ext cx="944219" cy="568248"/>
          </a:xfrm>
          <a:custGeom>
            <a:avLst/>
            <a:gdLst/>
            <a:ahLst/>
            <a:cxnLst/>
            <a:rect l="l" t="t" r="r" b="b"/>
            <a:pathLst>
              <a:path w="944219" h="568248">
                <a:moveTo>
                  <a:pt x="0" y="0"/>
                </a:moveTo>
                <a:lnTo>
                  <a:pt x="944219" y="0"/>
                </a:lnTo>
                <a:lnTo>
                  <a:pt x="944219" y="568248"/>
                </a:lnTo>
                <a:lnTo>
                  <a:pt x="0" y="56824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649742" y="1150158"/>
            <a:ext cx="10155052" cy="501797"/>
          </a:xfrm>
          <a:prstGeom prst="rect">
            <a:avLst/>
          </a:prstGeom>
        </p:spPr>
        <p:txBody>
          <a:bodyPr wrap="square" lIns="0" tIns="0" rIns="0" bIns="0" rtlCol="0" anchor="t">
            <a:spAutoFit/>
          </a:bodyPr>
          <a:lstStyle/>
          <a:p>
            <a:pPr algn="ctr">
              <a:lnSpc>
                <a:spcPts val="3833"/>
              </a:lnSpc>
              <a:spcBef>
                <a:spcPct val="0"/>
              </a:spcBef>
            </a:pPr>
            <a:r>
              <a:rPr lang="en-US" sz="3549" b="1" spc="-209" dirty="0">
                <a:solidFill>
                  <a:srgbClr val="185079"/>
                </a:solidFill>
                <a:latin typeface="Open Sauce Semi-Bold"/>
                <a:ea typeface="Open Sauce Semi-Bold"/>
                <a:cs typeface="Open Sauce Semi-Bold"/>
                <a:sym typeface="Open Sauce Semi-Bold"/>
              </a:rPr>
              <a:t>ZAALIMA SOFTWARE DEVELOPMENT PVT.LTD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898</Words>
  <Application>Microsoft Office PowerPoint</Application>
  <PresentationFormat>Custom</PresentationFormat>
  <Paragraphs>127</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Calibri</vt:lpstr>
      <vt:lpstr>Open Sauce Semi-Bold</vt:lpstr>
      <vt:lpstr>Open Sauce</vt:lpstr>
      <vt:lpstr>Arial</vt:lpstr>
      <vt:lpstr>Open Sauce Medium</vt:lpstr>
      <vt:lpstr>Open Sauce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includes a row of icons that represent each step in a process. The steps go from collecting data to building a dashboard. There is text on the left describing the project section. The overall look is clean with a soft blue theme.</dc:title>
  <cp:lastModifiedBy>prasanna jampa</cp:lastModifiedBy>
  <cp:revision>3</cp:revision>
  <dcterms:created xsi:type="dcterms:W3CDTF">2006-08-16T00:00:00Z</dcterms:created>
  <dcterms:modified xsi:type="dcterms:W3CDTF">2026-05-28T06:33:20Z</dcterms:modified>
  <dc:identifier>DAHK7N6zKcs</dc:identifier>
</cp:coreProperties>
</file>